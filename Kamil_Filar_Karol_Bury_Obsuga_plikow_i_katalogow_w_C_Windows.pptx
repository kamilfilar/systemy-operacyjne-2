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65" r:id="rId9"/>
    <p:sldId id="266" r:id="rId10"/>
    <p:sldId id="277" r:id="rId11"/>
    <p:sldId id="263" r:id="rId12"/>
    <p:sldId id="267" r:id="rId13"/>
    <p:sldId id="270" r:id="rId14"/>
    <p:sldId id="269" r:id="rId15"/>
    <p:sldId id="268" r:id="rId16"/>
    <p:sldId id="271" r:id="rId17"/>
    <p:sldId id="272" r:id="rId18"/>
    <p:sldId id="283" r:id="rId19"/>
    <p:sldId id="292" r:id="rId20"/>
    <p:sldId id="293" r:id="rId21"/>
    <p:sldId id="294" r:id="rId22"/>
    <p:sldId id="290" r:id="rId23"/>
    <p:sldId id="289" r:id="rId24"/>
    <p:sldId id="284" r:id="rId25"/>
    <p:sldId id="291" r:id="rId26"/>
    <p:sldId id="278" r:id="rId27"/>
    <p:sldId id="280" r:id="rId28"/>
    <p:sldId id="281" r:id="rId29"/>
    <p:sldId id="282" r:id="rId30"/>
    <p:sldId id="295" r:id="rId31"/>
    <p:sldId id="296" r:id="rId32"/>
    <p:sldId id="275" r:id="rId33"/>
    <p:sldId id="259" r:id="rId34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ójkąt prostokątny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Tytuł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17" name="Podtytuł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grpSp>
        <p:nvGrpSpPr>
          <p:cNvPr id="2" name="Grupa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Dowolny kształt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8" name="Dowolny kształt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11" name="Dowolny kształt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Łącznik prostoliniowy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ymbol zastępczy daty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19" name="Symbol zastępczy stopki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l-PL" dirty="0"/>
          </a:p>
        </p:txBody>
      </p:sp>
      <p:sp>
        <p:nvSpPr>
          <p:cNvPr id="27" name="Symbol zastępczy numeru slajd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7" name="Pag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8" name="Pag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8" name="Tytuł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ównan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6" name="Tytuł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l-PL" dirty="0" smtClean="0"/>
              <a:t>Kliknij ikonę, aby dodać obraz</a:t>
            </a:r>
            <a:endParaRPr kumimoji="0" lang="en-US" dirty="0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8" name="Dowolny kształt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9" name="Dowolny kształt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0" name="Trójkąt prostokątny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Łącznik prostoliniowy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g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13" name="Pag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olny kształt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2" name="Dowolny kształt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4" name="Trójkąt prostokątny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Łącznik prostoliniowy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ymbol zastępczy tytułu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0" name="Symbol zastępczy tekstu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10" name="Symbol zastępczy daty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17FA3B-C404-4317-B0BC-953931111309}" type="datetimeFigureOut">
              <a:rPr lang="pl-PL" smtClean="0"/>
              <a:t>26.11.2020</a:t>
            </a:fld>
            <a:endParaRPr lang="pl-PL" dirty="0"/>
          </a:p>
        </p:txBody>
      </p:sp>
      <p:sp>
        <p:nvSpPr>
          <p:cNvPr id="22" name="Symbol zastępczy stopki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l-PL" dirty="0"/>
          </a:p>
        </p:txBody>
      </p:sp>
      <p:sp>
        <p:nvSpPr>
          <p:cNvPr id="18" name="Symbol zastępczy numeru slajdu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931897F-8F23-433E-A660-EFF8D3EDA506}" type="slidenum">
              <a:rPr lang="pl-PL" smtClean="0"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pl-pl/office/korzystanie-z-symboli-wieloznacznych-w-por%C3%B3wnaniach-ci%C4%85g%C3%B3w-znak%C3%B3w-c472b6df-0d3e-4ffc-a21c-bb5721cc460a" TargetMode="External"/><Relationship Id="rId2" Type="http://schemas.openxmlformats.org/officeDocument/2006/relationships/hyperlink" Target="https://www.ee.pw.edu.pl/~tomzdun/zajecia/soisk_l/1.%20DOS%20-%20Linia%20komen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indows.h" TargetMode="External"/><Relationship Id="rId5" Type="http://schemas.openxmlformats.org/officeDocument/2006/relationships/hyperlink" Target="https://users.pja.edu.pl/~jms/qnx/help/watcom/clibref/headers.html#HeaderFilesInUsrIncludeSys" TargetMode="External"/><Relationship Id="rId4" Type="http://schemas.openxmlformats.org/officeDocument/2006/relationships/hyperlink" Target="https://www.computerhope.com/jargon/c/copycon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11560" y="1916832"/>
            <a:ext cx="7772400" cy="1395586"/>
          </a:xfrm>
        </p:spPr>
        <p:txBody>
          <a:bodyPr>
            <a:normAutofit/>
          </a:bodyPr>
          <a:lstStyle/>
          <a:p>
            <a:pPr algn="ctr"/>
            <a:r>
              <a:rPr lang="pl-PL" sz="3600" b="1" dirty="0" smtClean="0"/>
              <a:t>Obsługa plików i katalogów</a:t>
            </a:r>
            <a:br>
              <a:rPr lang="pl-PL" sz="3600" b="1" dirty="0" smtClean="0"/>
            </a:br>
            <a:r>
              <a:rPr lang="pl-PL" sz="3600" b="1" dirty="0" smtClean="0"/>
              <a:t>w języku C dla systemu Windows.</a:t>
            </a:r>
            <a:endParaRPr lang="pl-PL" sz="3600" b="1" dirty="0"/>
          </a:p>
        </p:txBody>
      </p:sp>
      <p:sp>
        <p:nvSpPr>
          <p:cNvPr id="5" name="Tytuł 1"/>
          <p:cNvSpPr txBox="1">
            <a:spLocks/>
          </p:cNvSpPr>
          <p:nvPr/>
        </p:nvSpPr>
        <p:spPr>
          <a:xfrm>
            <a:off x="763960" y="260648"/>
            <a:ext cx="7772400" cy="792088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l-PL" sz="3600" dirty="0" smtClean="0">
                <a:solidFill>
                  <a:srgbClr val="C00000"/>
                </a:solidFill>
              </a:rPr>
              <a:t>Systemy operacyjne 2</a:t>
            </a:r>
            <a:endParaRPr lang="pl-PL" sz="3600" dirty="0">
              <a:solidFill>
                <a:srgbClr val="C00000"/>
              </a:solidFill>
            </a:endParaRPr>
          </a:p>
        </p:txBody>
      </p:sp>
      <p:sp>
        <p:nvSpPr>
          <p:cNvPr id="6" name="Tytuł 1"/>
          <p:cNvSpPr>
            <a:spLocks noGrp="1"/>
          </p:cNvSpPr>
          <p:nvPr>
            <p:ph type="subTitle" idx="1"/>
          </p:nvPr>
        </p:nvSpPr>
        <p:spPr>
          <a:xfrm>
            <a:off x="2743200" y="6021388"/>
            <a:ext cx="6400800" cy="836612"/>
          </a:xfrm>
        </p:spPr>
        <p:txBody>
          <a:bodyPr>
            <a:noAutofit/>
          </a:bodyPr>
          <a:lstStyle/>
          <a:p>
            <a:r>
              <a:rPr lang="pl-PL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Kamil Filar, Karol Bury</a:t>
            </a:r>
          </a:p>
          <a:p>
            <a:r>
              <a:rPr lang="pl-PL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Informatyka, rok III, lab 1</a:t>
            </a:r>
            <a:endParaRPr lang="pl-PL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88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76064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/>
              <a:t>Podstawowe polecenia do poruszania się po drzewie katalogu: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cd </a:t>
            </a:r>
            <a:r>
              <a:rPr lang="pl-PL" sz="2000" dirty="0" smtClean="0"/>
              <a:t>- przenosi nas do nowego, bieżącego katalogu</a:t>
            </a: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endParaRPr lang="pl-PL" sz="2000" dirty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r>
              <a:rPr lang="pl-PL" sz="2000" dirty="0" smtClean="0">
                <a:solidFill>
                  <a:srgbClr val="C00000"/>
                </a:solidFill>
              </a:rPr>
              <a:t>cd .. </a:t>
            </a:r>
            <a:r>
              <a:rPr lang="pl-PL" sz="2000" dirty="0" smtClean="0"/>
              <a:t>– przenosi nas do poprzedniego, nadrzędnego katalogu</a:t>
            </a: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endParaRPr lang="pl-PL" sz="2000" dirty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r>
              <a:rPr lang="pl-PL" sz="2000" dirty="0" smtClean="0"/>
              <a:t>Aby przejść przez wiele katalogów należy podać ścieżkę docelowego katalogu do, którego chcemy się dostać.</a:t>
            </a:r>
          </a:p>
          <a:p>
            <a:endParaRPr lang="pl-PL" sz="2000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67544" y="10482"/>
            <a:ext cx="8229600" cy="610206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Poruszanie się po drzewie katalogu</a:t>
            </a:r>
            <a:endParaRPr lang="pl-PL"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556792"/>
            <a:ext cx="29432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986" y="2996952"/>
            <a:ext cx="29718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869160"/>
            <a:ext cx="42386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66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67544" y="116632"/>
            <a:ext cx="8229600" cy="648072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/>
              <a:t>	Na poprzednim slajdzie wykorzystano ścieżki względne. </a:t>
            </a:r>
            <a:r>
              <a:rPr lang="pl-PL" sz="2000" b="1" dirty="0" smtClean="0">
                <a:solidFill>
                  <a:srgbClr val="C00000"/>
                </a:solidFill>
              </a:rPr>
              <a:t>Ścieżka </a:t>
            </a:r>
            <a:r>
              <a:rPr lang="pl-PL" sz="2000" b="1" dirty="0">
                <a:solidFill>
                  <a:srgbClr val="C00000"/>
                </a:solidFill>
              </a:rPr>
              <a:t>względna </a:t>
            </a:r>
            <a:r>
              <a:rPr lang="pl-PL" sz="2000" dirty="0"/>
              <a:t>do katalogu (pliku) jest podawana względem katalogu </a:t>
            </a:r>
            <a:r>
              <a:rPr lang="pl-PL" sz="2000" dirty="0" smtClean="0"/>
              <a:t>bieżącego</a:t>
            </a:r>
            <a:r>
              <a:rPr lang="pl-PL" sz="2000" dirty="0"/>
              <a:t>. W </a:t>
            </a:r>
            <a:r>
              <a:rPr lang="pl-PL" sz="2000" dirty="0" smtClean="0"/>
              <a:t>odróżnieniu </a:t>
            </a:r>
            <a:r>
              <a:rPr lang="pl-PL" sz="2000" dirty="0"/>
              <a:t>od niej </a:t>
            </a:r>
            <a:r>
              <a:rPr lang="pl-PL" sz="2000" b="1" dirty="0" smtClean="0">
                <a:solidFill>
                  <a:srgbClr val="C00000"/>
                </a:solidFill>
              </a:rPr>
              <a:t>ścieżka bezwzględna</a:t>
            </a:r>
            <a:r>
              <a:rPr lang="pl-PL" sz="2000" dirty="0" smtClean="0"/>
              <a:t> jest </a:t>
            </a:r>
            <a:r>
              <a:rPr lang="pl-PL" sz="2000" dirty="0"/>
              <a:t>podawana od katalogu głównego, </a:t>
            </a:r>
            <a:r>
              <a:rPr lang="pl-PL" sz="2000" dirty="0" smtClean="0"/>
              <a:t>dlatego </a:t>
            </a:r>
            <a:r>
              <a:rPr lang="pl-PL" sz="2000" dirty="0"/>
              <a:t>zawsze będzie </a:t>
            </a:r>
            <a:r>
              <a:rPr lang="pl-PL" sz="2000" dirty="0" smtClean="0"/>
              <a:t>się </a:t>
            </a:r>
            <a:r>
              <a:rPr lang="pl-PL" sz="2000" dirty="0"/>
              <a:t>zaczynała od znaku </a:t>
            </a:r>
            <a:r>
              <a:rPr lang="pl-PL" sz="2000" dirty="0" smtClean="0"/>
              <a:t>\.</a:t>
            </a:r>
          </a:p>
          <a:p>
            <a:pPr marL="109728" indent="0">
              <a:buNone/>
            </a:pPr>
            <a:endParaRPr lang="pl-PL" sz="2000" dirty="0"/>
          </a:p>
          <a:p>
            <a:r>
              <a:rPr lang="pl-PL" sz="2000" dirty="0">
                <a:solidFill>
                  <a:srgbClr val="C00000"/>
                </a:solidFill>
              </a:rPr>
              <a:t>c</a:t>
            </a:r>
            <a:r>
              <a:rPr lang="pl-PL" sz="2000" dirty="0" smtClean="0">
                <a:solidFill>
                  <a:srgbClr val="C00000"/>
                </a:solidFill>
              </a:rPr>
              <a:t>d /D nazw_dysku:\ścieżka_katalogu </a:t>
            </a:r>
            <a:r>
              <a:rPr lang="pl-PL" sz="2000" dirty="0" smtClean="0"/>
              <a:t>– jeżeli chcemy przemiesić się pomiędzy katalogami znajdującymi się na różnych dyskach musimy użyć powyższego polecenia. Przykład jego zastosowania:</a:t>
            </a:r>
          </a:p>
          <a:p>
            <a:endParaRPr lang="pl-PL" sz="2000" dirty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r>
              <a:rPr lang="pl-PL" sz="2000" dirty="0">
                <a:solidFill>
                  <a:srgbClr val="C00000"/>
                </a:solidFill>
              </a:rPr>
              <a:t>	</a:t>
            </a:r>
            <a:r>
              <a:rPr lang="pl-PL" sz="2000" dirty="0" smtClean="0"/>
              <a:t>Inne przydatne polecenie podczas poruszania się po plikach i katalogach dla systemu Windows:</a:t>
            </a:r>
            <a:endParaRPr lang="pl-PL" sz="2000" dirty="0">
              <a:solidFill>
                <a:srgbClr val="C00000"/>
              </a:solidFill>
            </a:endParaRPr>
          </a:p>
          <a:p>
            <a:r>
              <a:rPr lang="pl-PL" sz="2000" dirty="0" smtClean="0">
                <a:solidFill>
                  <a:srgbClr val="C00000"/>
                </a:solidFill>
              </a:rPr>
              <a:t>cls </a:t>
            </a:r>
            <a:r>
              <a:rPr lang="pl-PL" sz="2000" dirty="0" smtClean="0"/>
              <a:t>– polecenie służy do czyszczenia konsoli</a:t>
            </a:r>
            <a:r>
              <a:rPr lang="pl-PL" sz="2000" dirty="0" smtClean="0">
                <a:solidFill>
                  <a:srgbClr val="C00000"/>
                </a:solidFill>
              </a:rPr>
              <a:t> </a:t>
            </a:r>
          </a:p>
          <a:p>
            <a:endParaRPr lang="pl-PL" sz="20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71" y="3429000"/>
            <a:ext cx="29337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80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04656"/>
          </a:xfrm>
        </p:spPr>
        <p:txBody>
          <a:bodyPr>
            <a:normAutofit/>
          </a:bodyPr>
          <a:lstStyle/>
          <a:p>
            <a:r>
              <a:rPr lang="pl-PL" sz="2000" dirty="0">
                <a:solidFill>
                  <a:srgbClr val="C00000"/>
                </a:solidFill>
              </a:rPr>
              <a:t>m</a:t>
            </a:r>
            <a:r>
              <a:rPr lang="pl-PL" sz="2000" dirty="0" smtClean="0">
                <a:solidFill>
                  <a:srgbClr val="C00000"/>
                </a:solidFill>
              </a:rPr>
              <a:t>d [dysk:] ścieżka_katalogu\nazwa_katalogu </a:t>
            </a:r>
            <a:r>
              <a:rPr lang="pl-PL" sz="2000" dirty="0" smtClean="0"/>
              <a:t>- tworzy katalog w wybranym miejscu (w razie zaistnienia takiej potrzeby, tworzy również podkatalogi znajdujące się w ścieżce). To polecenie jest ekwiwalentem polecenia </a:t>
            </a:r>
            <a:r>
              <a:rPr lang="pl-PL" sz="2000" dirty="0" smtClean="0">
                <a:solidFill>
                  <a:srgbClr val="C00000"/>
                </a:solidFill>
              </a:rPr>
              <a:t>mkdir</a:t>
            </a:r>
            <a:r>
              <a:rPr lang="pl-PL" sz="2000" dirty="0" smtClean="0"/>
              <a:t>.</a:t>
            </a: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endParaRPr lang="pl-PL" sz="2000" dirty="0">
              <a:solidFill>
                <a:srgbClr val="C00000"/>
              </a:solidFill>
            </a:endParaRP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2000" dirty="0" smtClean="0">
              <a:solidFill>
                <a:srgbClr val="C00000"/>
              </a:solidFill>
            </a:endParaRPr>
          </a:p>
          <a:p>
            <a:r>
              <a:rPr lang="pl-PL" sz="2000" dirty="0">
                <a:solidFill>
                  <a:srgbClr val="C00000"/>
                </a:solidFill>
              </a:rPr>
              <a:t>rd [opcje] [dysk:]</a:t>
            </a:r>
            <a:r>
              <a:rPr lang="pl-PL" sz="2000" dirty="0" smtClean="0">
                <a:solidFill>
                  <a:srgbClr val="C00000"/>
                </a:solidFill>
              </a:rPr>
              <a:t>ścieżka_katalogu </a:t>
            </a:r>
            <a:r>
              <a:rPr lang="pl-PL" sz="2000" dirty="0" smtClean="0"/>
              <a:t>– usuwa katalog we wskazanym miejscu. Zamiast polecenia rd można użyć </a:t>
            </a:r>
            <a:r>
              <a:rPr lang="pl-PL" sz="2000" dirty="0" smtClean="0">
                <a:solidFill>
                  <a:srgbClr val="C00000"/>
                </a:solidFill>
              </a:rPr>
              <a:t>rmdir</a:t>
            </a:r>
            <a:r>
              <a:rPr lang="pl-PL" sz="2000" dirty="0" smtClean="0"/>
              <a:t>.</a:t>
            </a:r>
          </a:p>
          <a:p>
            <a:pPr marL="109728" indent="0">
              <a:buNone/>
            </a:pPr>
            <a:r>
              <a:rPr lang="pl-PL" sz="2000" dirty="0" smtClean="0"/>
              <a:t>Opcje:</a:t>
            </a:r>
          </a:p>
          <a:p>
            <a:pPr marL="109728" indent="0">
              <a:buNone/>
            </a:pPr>
            <a:r>
              <a:rPr lang="pl-PL" sz="2000" dirty="0" smtClean="0">
                <a:solidFill>
                  <a:srgbClr val="C00000"/>
                </a:solidFill>
              </a:rPr>
              <a:t>/S </a:t>
            </a:r>
            <a:r>
              <a:rPr lang="pl-PL" sz="2000" dirty="0" smtClean="0"/>
              <a:t>usuwa </a:t>
            </a:r>
            <a:r>
              <a:rPr lang="pl-PL" sz="2000" dirty="0"/>
              <a:t>wraz z określonym katalogiem wszystkie katalogi i pliki w nim umieszczone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>
                <a:solidFill>
                  <a:srgbClr val="C00000"/>
                </a:solidFill>
              </a:rPr>
              <a:t>/Q </a:t>
            </a:r>
            <a:r>
              <a:rPr lang="pl-PL" sz="2000" dirty="0" smtClean="0"/>
              <a:t>nie żąda </a:t>
            </a:r>
            <a:r>
              <a:rPr lang="pl-PL" sz="2000" dirty="0"/>
              <a:t>potwierdzania usuwania drzewa </a:t>
            </a:r>
            <a:r>
              <a:rPr lang="pl-PL" sz="2000" dirty="0" smtClean="0"/>
              <a:t>katalogów</a:t>
            </a:r>
            <a:endParaRPr lang="pl-PL" sz="2000" dirty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27735"/>
            <a:ext cx="8229600" cy="592953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Obsługa katalogów</a:t>
            </a:r>
            <a:endParaRPr lang="pl-PL" sz="3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6832"/>
            <a:ext cx="46672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373216"/>
            <a:ext cx="3886200" cy="1317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612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810539"/>
          </a:xfrm>
        </p:spPr>
        <p:txBody>
          <a:bodyPr/>
          <a:lstStyle/>
          <a:p>
            <a:r>
              <a:rPr lang="pl-PL" dirty="0"/>
              <a:t> </a:t>
            </a:r>
            <a:r>
              <a:rPr lang="pl-PL" sz="2000" dirty="0" smtClean="0">
                <a:solidFill>
                  <a:srgbClr val="C00000"/>
                </a:solidFill>
              </a:rPr>
              <a:t>xcopy </a:t>
            </a:r>
            <a:r>
              <a:rPr lang="pl-PL" sz="2000" dirty="0">
                <a:solidFill>
                  <a:srgbClr val="C00000"/>
                </a:solidFill>
              </a:rPr>
              <a:t>[/Y | /-Y] </a:t>
            </a:r>
            <a:r>
              <a:rPr lang="pl-PL" sz="2000" dirty="0" smtClean="0">
                <a:solidFill>
                  <a:srgbClr val="C00000"/>
                </a:solidFill>
              </a:rPr>
              <a:t>ścieżka_katalogu </a:t>
            </a:r>
            <a:r>
              <a:rPr lang="pl-PL" sz="2000" dirty="0">
                <a:solidFill>
                  <a:srgbClr val="C00000"/>
                </a:solidFill>
              </a:rPr>
              <a:t>[cel] </a:t>
            </a:r>
            <a:r>
              <a:rPr lang="pl-PL" sz="2000" dirty="0" smtClean="0"/>
              <a:t>- kopiuje katalog wraz z jego zawartością do docelowego miejsca. Jeżeli nie podamy docelowego miejsca instrukcja skopiuje do bieżącego katalogu.</a:t>
            </a:r>
          </a:p>
          <a:p>
            <a:endParaRPr lang="pl-PL" sz="2000" dirty="0"/>
          </a:p>
          <a:p>
            <a:endParaRPr lang="pl-PL" sz="2000" dirty="0" smtClean="0"/>
          </a:p>
          <a:p>
            <a:endParaRPr lang="pl-PL" sz="2000" dirty="0"/>
          </a:p>
          <a:p>
            <a:endParaRPr lang="pl-PL" sz="2000" dirty="0" smtClean="0"/>
          </a:p>
          <a:p>
            <a:pPr marL="109728" indent="0">
              <a:buNone/>
            </a:pPr>
            <a:endParaRPr lang="pl-PL" sz="2000" dirty="0" smtClean="0"/>
          </a:p>
          <a:p>
            <a:r>
              <a:rPr lang="pl-PL" sz="2000" dirty="0">
                <a:solidFill>
                  <a:srgbClr val="C00000"/>
                </a:solidFill>
              </a:rPr>
              <a:t>move [/Y | /-Y] </a:t>
            </a:r>
            <a:r>
              <a:rPr lang="pl-PL" sz="2000" dirty="0" smtClean="0">
                <a:solidFill>
                  <a:srgbClr val="C00000"/>
                </a:solidFill>
              </a:rPr>
              <a:t>[ścieżka]katalog1 </a:t>
            </a:r>
            <a:r>
              <a:rPr lang="pl-PL" sz="2000" dirty="0">
                <a:solidFill>
                  <a:srgbClr val="C00000"/>
                </a:solidFill>
              </a:rPr>
              <a:t>katalog2 </a:t>
            </a:r>
            <a:r>
              <a:rPr lang="pl-PL" sz="2000" dirty="0" smtClean="0">
                <a:solidFill>
                  <a:srgbClr val="C00000"/>
                </a:solidFill>
              </a:rPr>
              <a:t> </a:t>
            </a:r>
            <a:r>
              <a:rPr lang="pl-PL" sz="2000" dirty="0" smtClean="0"/>
              <a:t>- przenosi katalog ze wskazanego miejsca do bieżącego folderu (katalog2 może zostać zapisany pod nową nazwą).</a:t>
            </a:r>
            <a:endParaRPr lang="pl-PL" dirty="0"/>
          </a:p>
        </p:txBody>
      </p:sp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67544" y="35712"/>
            <a:ext cx="8229600" cy="584976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Kopiowanie i przenoszenie katalogów</a:t>
            </a:r>
            <a:endParaRPr lang="pl-PL"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204864"/>
            <a:ext cx="783907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013176"/>
            <a:ext cx="72675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630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544616"/>
          </a:xfrm>
        </p:spPr>
        <p:txBody>
          <a:bodyPr>
            <a:normAutofit fontScale="92500" lnSpcReduction="10000"/>
          </a:bodyPr>
          <a:lstStyle/>
          <a:p>
            <a:r>
              <a:rPr lang="pl-PL" sz="2000" dirty="0">
                <a:solidFill>
                  <a:srgbClr val="C00000"/>
                </a:solidFill>
              </a:rPr>
              <a:t>dir </a:t>
            </a:r>
            <a:r>
              <a:rPr lang="pl-PL" sz="2000" dirty="0" smtClean="0">
                <a:solidFill>
                  <a:srgbClr val="C00000"/>
                </a:solidFill>
              </a:rPr>
              <a:t>[dysk:][ścieżka</a:t>
            </a:r>
            <a:r>
              <a:rPr lang="pl-PL" sz="2000" dirty="0">
                <a:solidFill>
                  <a:srgbClr val="C00000"/>
                </a:solidFill>
              </a:rPr>
              <a:t>][plik] [opcje</a:t>
            </a:r>
            <a:r>
              <a:rPr lang="pl-PL" sz="2000" dirty="0" smtClean="0">
                <a:solidFill>
                  <a:srgbClr val="C00000"/>
                </a:solidFill>
              </a:rPr>
              <a:t>] </a:t>
            </a:r>
            <a:r>
              <a:rPr lang="pl-PL" sz="2000" dirty="0" smtClean="0"/>
              <a:t>- wyświetla listę plików i katalogów znajdujących się w danym miejscu.</a:t>
            </a:r>
          </a:p>
          <a:p>
            <a:endParaRPr lang="pl-PL" sz="2000" dirty="0"/>
          </a:p>
          <a:p>
            <a:endParaRPr lang="pl-PL" sz="2000" dirty="0" smtClean="0"/>
          </a:p>
          <a:p>
            <a:endParaRPr lang="pl-PL" sz="2000" dirty="0"/>
          </a:p>
          <a:p>
            <a:endParaRPr lang="pl-PL" sz="2000" dirty="0" smtClean="0"/>
          </a:p>
          <a:p>
            <a:endParaRPr lang="pl-PL" sz="2000" dirty="0"/>
          </a:p>
          <a:p>
            <a:endParaRPr lang="pl-PL" sz="2000" dirty="0" smtClean="0"/>
          </a:p>
          <a:p>
            <a:endParaRPr lang="pl-PL" sz="2000" dirty="0"/>
          </a:p>
          <a:p>
            <a:endParaRPr lang="pl-PL" sz="2000" dirty="0" smtClean="0"/>
          </a:p>
          <a:p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Zaczynając od lewej strony mamy odpowiednio, daty i czas utworzenia plików lub katalogów, następnie typ, kolejno nazwę pliku lub katalogu wraz z poprzedzający je rozmiarem. Poniżej mamy „podsumowanie”.</a:t>
            </a:r>
            <a:r>
              <a:rPr lang="pl-PL" sz="2000" dirty="0"/>
              <a:t>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W każdym </a:t>
            </a:r>
            <a:r>
              <a:rPr lang="pl-PL" sz="2000" dirty="0"/>
              <a:t>katalogu są dwa specjalne katalogi o nazwach </a:t>
            </a:r>
            <a:r>
              <a:rPr lang="pl-PL" sz="2000" dirty="0">
                <a:solidFill>
                  <a:srgbClr val="C00000"/>
                </a:solidFill>
              </a:rPr>
              <a:t>.</a:t>
            </a:r>
            <a:r>
              <a:rPr lang="pl-PL" sz="2000" dirty="0"/>
              <a:t> i </a:t>
            </a:r>
            <a:r>
              <a:rPr lang="pl-PL" sz="2000" dirty="0">
                <a:solidFill>
                  <a:srgbClr val="C00000"/>
                </a:solidFill>
              </a:rPr>
              <a:t>..</a:t>
            </a:r>
            <a:r>
              <a:rPr lang="pl-PL" sz="2000" dirty="0"/>
              <a:t> (kropka i dwie kropki). Katalog o nazwie </a:t>
            </a:r>
            <a:r>
              <a:rPr lang="pl-PL" sz="2000" dirty="0">
                <a:solidFill>
                  <a:srgbClr val="C00000"/>
                </a:solidFill>
              </a:rPr>
              <a:t>.</a:t>
            </a:r>
            <a:r>
              <a:rPr lang="pl-PL" sz="2000" dirty="0"/>
              <a:t> jest to katalog </a:t>
            </a:r>
            <a:r>
              <a:rPr lang="pl-PL" sz="2000" dirty="0" smtClean="0"/>
              <a:t>bieżący</a:t>
            </a:r>
            <a:r>
              <a:rPr lang="pl-PL" sz="2000" dirty="0"/>
              <a:t>, natomiast katalog </a:t>
            </a:r>
            <a:r>
              <a:rPr lang="pl-PL" sz="2000" dirty="0">
                <a:solidFill>
                  <a:srgbClr val="C00000"/>
                </a:solidFill>
              </a:rPr>
              <a:t>..</a:t>
            </a:r>
            <a:r>
              <a:rPr lang="pl-PL" sz="2000" dirty="0"/>
              <a:t> j</a:t>
            </a:r>
            <a:r>
              <a:rPr lang="pl-PL" sz="2000" dirty="0" smtClean="0"/>
              <a:t>est </a:t>
            </a:r>
            <a:r>
              <a:rPr lang="pl-PL" sz="2000" dirty="0"/>
              <a:t>katalogiem nadrzędnym. </a:t>
            </a:r>
            <a:endParaRPr lang="pl-PL" sz="2000" dirty="0" smtClean="0"/>
          </a:p>
          <a:p>
            <a:endParaRPr lang="pl-PL" sz="2000" dirty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856"/>
            <a:ext cx="8229600" cy="532982"/>
          </a:xfrm>
        </p:spPr>
        <p:txBody>
          <a:bodyPr>
            <a:noAutofit/>
          </a:bodyPr>
          <a:lstStyle/>
          <a:p>
            <a:pPr algn="ctr"/>
            <a:r>
              <a:rPr lang="pl-PL" sz="3000" dirty="0" smtClean="0"/>
              <a:t>Wyświetlanie listy plików i katalogów</a:t>
            </a:r>
            <a:endParaRPr lang="pl-PL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974" y="1268760"/>
            <a:ext cx="46101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20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107504" y="692696"/>
            <a:ext cx="8229600" cy="5544616"/>
          </a:xfrm>
        </p:spPr>
        <p:txBody>
          <a:bodyPr>
            <a:normAutofit fontScale="92500" lnSpcReduction="20000"/>
          </a:bodyPr>
          <a:lstStyle/>
          <a:p>
            <a:r>
              <a:rPr lang="pl-PL" sz="2000" dirty="0">
                <a:solidFill>
                  <a:srgbClr val="C00000"/>
                </a:solidFill>
              </a:rPr>
              <a:t>/A: </a:t>
            </a:r>
            <a:r>
              <a:rPr lang="pl-PL" sz="2000" dirty="0"/>
              <a:t>wyświetla pliki z określonymi atrybutami: </a:t>
            </a:r>
            <a:endParaRPr lang="pl-PL" sz="20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D</a:t>
            </a:r>
            <a:r>
              <a:rPr lang="pl-PL" sz="1600" dirty="0" smtClean="0"/>
              <a:t> </a:t>
            </a:r>
            <a:r>
              <a:rPr lang="pl-PL" sz="1600" dirty="0"/>
              <a:t>- katalogi (/A:D)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H</a:t>
            </a:r>
            <a:r>
              <a:rPr lang="pl-PL" sz="1600" dirty="0" smtClean="0"/>
              <a:t> </a:t>
            </a:r>
            <a:r>
              <a:rPr lang="pl-PL" sz="1600" dirty="0"/>
              <a:t>- pliki ukryte </a:t>
            </a:r>
            <a:r>
              <a:rPr lang="pl-PL" sz="1600" dirty="0" smtClean="0"/>
              <a:t>(/</a:t>
            </a:r>
            <a:r>
              <a:rPr lang="pl-PL" sz="1600" dirty="0"/>
              <a:t>A:H)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S</a:t>
            </a:r>
            <a:r>
              <a:rPr lang="pl-PL" sz="1600" dirty="0" smtClean="0"/>
              <a:t> </a:t>
            </a:r>
            <a:r>
              <a:rPr lang="pl-PL" sz="1600" dirty="0"/>
              <a:t>- pliki systemowe (/A:S)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R</a:t>
            </a:r>
            <a:r>
              <a:rPr lang="pl-PL" sz="1600" dirty="0" smtClean="0"/>
              <a:t> </a:t>
            </a:r>
            <a:r>
              <a:rPr lang="pl-PL" sz="1600" dirty="0"/>
              <a:t>- pliki tylko do odczytu (/A:R)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A</a:t>
            </a:r>
            <a:r>
              <a:rPr lang="pl-PL" sz="1600" dirty="0" smtClean="0"/>
              <a:t> </a:t>
            </a:r>
            <a:r>
              <a:rPr lang="pl-PL" sz="1600" dirty="0"/>
              <a:t>- pliki gotowe do archiwizacji (/A:A)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-</a:t>
            </a:r>
            <a:r>
              <a:rPr lang="pl-PL" sz="1600" dirty="0" smtClean="0"/>
              <a:t> </a:t>
            </a:r>
            <a:r>
              <a:rPr lang="pl-PL" sz="1600" dirty="0"/>
              <a:t>- prefiks oznaczający negację atrybutu (/A:-D) </a:t>
            </a:r>
            <a:endParaRPr lang="pl-PL" sz="16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B </a:t>
            </a:r>
            <a:r>
              <a:rPr lang="pl-PL" sz="2000" dirty="0" smtClean="0"/>
              <a:t>używa </a:t>
            </a:r>
            <a:r>
              <a:rPr lang="pl-PL" sz="2000" dirty="0"/>
              <a:t>prostego formatu wyświetlania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/>
              <a:t> </a:t>
            </a:r>
            <a:r>
              <a:rPr lang="pl-PL" sz="2000" dirty="0" smtClean="0"/>
              <a:t>       (</a:t>
            </a:r>
            <a:r>
              <a:rPr lang="pl-PL" sz="2000" dirty="0"/>
              <a:t>bez nagłówka i podsumowania) </a:t>
            </a:r>
            <a:endParaRPr lang="pl-PL" sz="20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O: </a:t>
            </a:r>
            <a:r>
              <a:rPr lang="pl-PL" sz="2000" dirty="0"/>
              <a:t>stosuje sortowanie: </a:t>
            </a:r>
            <a:endParaRPr lang="pl-PL" sz="20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N</a:t>
            </a:r>
            <a:r>
              <a:rPr lang="pl-PL" sz="1600" dirty="0" smtClean="0"/>
              <a:t> </a:t>
            </a:r>
            <a:r>
              <a:rPr lang="pl-PL" sz="1600" dirty="0"/>
              <a:t>- wg nazw (alfabetycznie) (/O:N)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E</a:t>
            </a:r>
            <a:r>
              <a:rPr lang="pl-PL" sz="1600" dirty="0" smtClean="0"/>
              <a:t> </a:t>
            </a:r>
            <a:r>
              <a:rPr lang="pl-PL" sz="1600" dirty="0"/>
              <a:t>- wg rozszerzeń (alfabetycznie) </a:t>
            </a:r>
            <a:r>
              <a:rPr lang="pl-PL" sz="1600" dirty="0" smtClean="0"/>
              <a:t>(/</a:t>
            </a:r>
            <a:r>
              <a:rPr lang="pl-PL" sz="1600" dirty="0"/>
              <a:t>O:E)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G</a:t>
            </a:r>
            <a:r>
              <a:rPr lang="pl-PL" sz="1600" dirty="0" smtClean="0"/>
              <a:t> </a:t>
            </a:r>
            <a:r>
              <a:rPr lang="pl-PL" sz="1600" dirty="0"/>
              <a:t>- katalogi na początku (/O:G)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S</a:t>
            </a:r>
            <a:r>
              <a:rPr lang="pl-PL" sz="1600" dirty="0" smtClean="0"/>
              <a:t> </a:t>
            </a:r>
            <a:r>
              <a:rPr lang="pl-PL" sz="1600" dirty="0"/>
              <a:t>- wg rozmiarów (od najmniejszych) (/O:S)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D</a:t>
            </a:r>
            <a:r>
              <a:rPr lang="pl-PL" sz="1600" dirty="0" smtClean="0"/>
              <a:t> </a:t>
            </a:r>
            <a:r>
              <a:rPr lang="pl-PL" sz="1600" dirty="0"/>
              <a:t>- wg dat i godzin (od najstarszych) (/O:D) </a:t>
            </a:r>
            <a:endParaRPr lang="pl-PL" sz="1600" dirty="0" smtClean="0"/>
          </a:p>
          <a:p>
            <a:pPr lvl="1"/>
            <a:r>
              <a:rPr lang="pl-PL" sz="1600" dirty="0" smtClean="0">
                <a:solidFill>
                  <a:srgbClr val="C00000"/>
                </a:solidFill>
              </a:rPr>
              <a:t>-</a:t>
            </a:r>
            <a:r>
              <a:rPr lang="pl-PL" sz="1600" dirty="0" smtClean="0"/>
              <a:t> </a:t>
            </a:r>
            <a:r>
              <a:rPr lang="pl-PL" sz="1600" dirty="0"/>
              <a:t>- odwrócenie kolejności (/O:-N) </a:t>
            </a:r>
            <a:endParaRPr lang="pl-PL" sz="16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P </a:t>
            </a:r>
            <a:r>
              <a:rPr lang="pl-PL" sz="2000" dirty="0"/>
              <a:t>wstrzymuje wyświetlanie po zapełnieniu ekranu </a:t>
            </a:r>
            <a:endParaRPr lang="pl-PL" sz="20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S </a:t>
            </a:r>
            <a:r>
              <a:rPr lang="pl-PL" sz="2000" dirty="0"/>
              <a:t>wyświetla pliki w określonym katalogu i wszystkich podkatalogach </a:t>
            </a:r>
            <a:endParaRPr lang="pl-PL" sz="20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W </a:t>
            </a:r>
            <a:r>
              <a:rPr lang="pl-PL" sz="2000" dirty="0"/>
              <a:t>stosuje format szerokiej listy posortowanej wierszami </a:t>
            </a:r>
            <a:endParaRPr lang="pl-PL" sz="2000" dirty="0" smtClean="0"/>
          </a:p>
          <a:p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X </a:t>
            </a:r>
            <a:r>
              <a:rPr lang="pl-PL" sz="2000" dirty="0"/>
              <a:t>wyświetla krótkie nazwy dla plików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Najważniejsze opcje polecenia dir</a:t>
            </a:r>
            <a:endParaRPr lang="pl-PL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052735"/>
            <a:ext cx="3779912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55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/>
          </a:bodyPr>
          <a:lstStyle/>
          <a:p>
            <a:r>
              <a:rPr lang="pl-PL" sz="2000" dirty="0">
                <a:solidFill>
                  <a:srgbClr val="C00000"/>
                </a:solidFill>
              </a:rPr>
              <a:t>rename </a:t>
            </a:r>
            <a:r>
              <a:rPr lang="pl-PL" sz="2000" dirty="0" smtClean="0">
                <a:solidFill>
                  <a:srgbClr val="C00000"/>
                </a:solidFill>
              </a:rPr>
              <a:t>[ścieżka]nazwa1 nazwa2 </a:t>
            </a:r>
            <a:r>
              <a:rPr lang="pl-PL" sz="2000" dirty="0" smtClean="0"/>
              <a:t>- zmienia nazwę pliku lub katalogu. Ekwiwalentem tego polecenie jest</a:t>
            </a:r>
            <a:r>
              <a:rPr lang="pl-PL" sz="2000" dirty="0" smtClean="0">
                <a:solidFill>
                  <a:srgbClr val="C00000"/>
                </a:solidFill>
              </a:rPr>
              <a:t> ren </a:t>
            </a:r>
            <a:r>
              <a:rPr lang="pl-PL" sz="2000" dirty="0" smtClean="0"/>
              <a:t>(z tą samą składnią).</a:t>
            </a:r>
          </a:p>
          <a:p>
            <a:pPr marL="109728" indent="0" algn="ctr">
              <a:buNone/>
            </a:pPr>
            <a:r>
              <a:rPr lang="pl-PL" sz="1600" dirty="0" smtClean="0"/>
              <a:t>Przykład dla pliku:</a:t>
            </a:r>
          </a:p>
          <a:p>
            <a:pPr marL="109728" indent="0" algn="ctr">
              <a:buNone/>
            </a:pPr>
            <a:endParaRPr lang="pl-PL" sz="1600" dirty="0"/>
          </a:p>
          <a:p>
            <a:pPr marL="109728" indent="0" algn="ctr">
              <a:buNone/>
            </a:pPr>
            <a:endParaRPr lang="pl-PL" sz="1600" dirty="0" smtClean="0"/>
          </a:p>
          <a:p>
            <a:pPr marL="109728" indent="0" algn="ctr">
              <a:buNone/>
            </a:pPr>
            <a:endParaRPr lang="pl-PL" sz="1600" dirty="0"/>
          </a:p>
          <a:p>
            <a:pPr marL="109728" indent="0" algn="ctr">
              <a:buNone/>
            </a:pPr>
            <a:endParaRPr lang="pl-PL" sz="1600" dirty="0" smtClean="0"/>
          </a:p>
          <a:p>
            <a:pPr marL="109728" indent="0" algn="ctr">
              <a:buNone/>
            </a:pPr>
            <a:r>
              <a:rPr lang="pl-PL" sz="1600" dirty="0"/>
              <a:t>Przykład dla </a:t>
            </a:r>
            <a:r>
              <a:rPr lang="pl-PL" sz="1600" dirty="0" smtClean="0"/>
              <a:t>katalogu:</a:t>
            </a:r>
          </a:p>
          <a:p>
            <a:pPr marL="109728" indent="0" algn="ctr">
              <a:buNone/>
            </a:pPr>
            <a:endParaRPr lang="pl-PL" sz="1600" dirty="0"/>
          </a:p>
          <a:p>
            <a:pPr marL="109728" indent="0" algn="ctr">
              <a:buNone/>
            </a:pPr>
            <a:endParaRPr lang="pl-PL" sz="1600" dirty="0" smtClean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703"/>
            <a:ext cx="8229600" cy="763001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Zmiana nazwy plików i katalogów</a:t>
            </a:r>
            <a:endParaRPr lang="pl-PL" sz="3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20888"/>
            <a:ext cx="54102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861048"/>
            <a:ext cx="59245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29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688632"/>
          </a:xfrm>
        </p:spPr>
        <p:txBody>
          <a:bodyPr>
            <a:normAutofit/>
          </a:bodyPr>
          <a:lstStyle/>
          <a:p>
            <a:r>
              <a:rPr lang="pl-PL" sz="2000" dirty="0">
                <a:solidFill>
                  <a:srgbClr val="C00000"/>
                </a:solidFill>
              </a:rPr>
              <a:t>copy con </a:t>
            </a:r>
            <a:r>
              <a:rPr lang="pl-PL" sz="2000" dirty="0" smtClean="0">
                <a:solidFill>
                  <a:srgbClr val="C00000"/>
                </a:solidFill>
              </a:rPr>
              <a:t>nazwa_pliku.rozszerznie </a:t>
            </a:r>
            <a:r>
              <a:rPr lang="pl-PL" sz="2000" dirty="0"/>
              <a:t>– komenda pozwalająca na stworzenie pliku w systemie Windows. Po wpisaniu tej komendy zostanie otworzona </a:t>
            </a:r>
            <a:r>
              <a:rPr lang="pl-PL" sz="2000" dirty="0" smtClean="0"/>
              <a:t>ten plik i </a:t>
            </a:r>
            <a:r>
              <a:rPr lang="pl-PL" sz="2000" dirty="0"/>
              <a:t>możemy wpisywać </a:t>
            </a:r>
            <a:r>
              <a:rPr lang="pl-PL" sz="2000" dirty="0" smtClean="0"/>
              <a:t>dowolne znaki. Naciśnięcie </a:t>
            </a:r>
            <a:r>
              <a:rPr lang="pl-PL" sz="2000" dirty="0"/>
              <a:t>klawisza Enter spowoduje przejście do nowej linii, a gdy skończymy pisać to należy nacisnąć Ctrl+Z, wtedy plik zostanie zapisany.</a:t>
            </a:r>
          </a:p>
          <a:p>
            <a:pPr marL="109728" indent="0">
              <a:buNone/>
            </a:pPr>
            <a:endParaRPr lang="pl-PL" sz="2000" dirty="0" smtClean="0"/>
          </a:p>
          <a:p>
            <a:endParaRPr lang="pl-PL" sz="2000" dirty="0" smtClean="0"/>
          </a:p>
          <a:p>
            <a:pPr marL="109728" indent="0">
              <a:buNone/>
            </a:pPr>
            <a:endParaRPr lang="pl-PL" sz="2000" dirty="0" smtClean="0"/>
          </a:p>
          <a:p>
            <a:pPr marL="109728" indent="0">
              <a:buNone/>
            </a:pPr>
            <a:endParaRPr lang="pl-PL" sz="2000" dirty="0"/>
          </a:p>
          <a:p>
            <a:r>
              <a:rPr lang="pl-PL" sz="2000" dirty="0" smtClean="0">
                <a:solidFill>
                  <a:srgbClr val="C00000"/>
                </a:solidFill>
              </a:rPr>
              <a:t>nazwa_polecenia &gt; nazwa_pliku.rozszerzenie </a:t>
            </a:r>
            <a:r>
              <a:rPr lang="pl-PL" sz="2000" dirty="0" smtClean="0"/>
              <a:t>– jest to „sztuczka”, która pozwala zapisać wynik działania polecenia w pliku (jeżeli potrzebujemy zapisać do nowego pliku, zostanie on automatycznie utworzony). To polecenie po prostu przekierowuje strumień wyjścia do pliku.</a:t>
            </a:r>
            <a:endParaRPr lang="pl-PL" sz="2000" dirty="0" smtClean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25979"/>
            <a:ext cx="8229600" cy="594709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Tworzenie plików</a:t>
            </a:r>
            <a:endParaRPr lang="pl-PL" sz="30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552" y="2780928"/>
            <a:ext cx="36671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9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/>
          <a:lstStyle/>
          <a:p>
            <a:r>
              <a:rPr lang="pl-PL" sz="2000" dirty="0">
                <a:solidFill>
                  <a:srgbClr val="C00000"/>
                </a:solidFill>
              </a:rPr>
              <a:t>del[opcje] nazwa1 </a:t>
            </a:r>
            <a:r>
              <a:rPr lang="pl-PL" sz="2000" dirty="0"/>
              <a:t>lub </a:t>
            </a:r>
            <a:r>
              <a:rPr lang="pl-PL" sz="2000" dirty="0">
                <a:solidFill>
                  <a:srgbClr val="C00000"/>
                </a:solidFill>
              </a:rPr>
              <a:t>erase[opcje] nazwa1</a:t>
            </a:r>
            <a:r>
              <a:rPr lang="pl-PL" sz="2000" dirty="0"/>
              <a:t>- są to polecenia służące do usuwania plików. Aby usunąć wiele plików na raz należy posłużyć się symbolami wieloznacznymi. Jeżeli zostanie podany katalog, zostaną usunięte wszystkie pliki w tym katalogu. </a:t>
            </a:r>
            <a:endParaRPr lang="pl-PL" sz="2000" dirty="0" smtClean="0"/>
          </a:p>
          <a:p>
            <a:endParaRPr lang="pl-PL" sz="2000" dirty="0"/>
          </a:p>
          <a:p>
            <a:pPr marL="109728" indent="0">
              <a:buNone/>
            </a:pPr>
            <a:r>
              <a:rPr lang="pl-PL" sz="2000" dirty="0"/>
              <a:t>Najważniejsze opcje: </a:t>
            </a:r>
          </a:p>
          <a:p>
            <a:pPr lvl="1"/>
            <a:r>
              <a:rPr lang="pl-PL" sz="1600" dirty="0"/>
              <a:t>/P monituje o potwierdzenie zastąpienia istniejącego pliku docelowego </a:t>
            </a:r>
          </a:p>
          <a:p>
            <a:pPr lvl="1"/>
            <a:r>
              <a:rPr lang="pl-PL" sz="1600" dirty="0"/>
              <a:t>/S usuwa wszystkie pliki ze wszystkich podkatalogów </a:t>
            </a:r>
          </a:p>
          <a:p>
            <a:pPr lvl="1"/>
            <a:r>
              <a:rPr lang="pl-PL" sz="1600" dirty="0"/>
              <a:t>/Q tryb cichy, nie żąda potwierdzenia usunięcia</a:t>
            </a:r>
            <a:endParaRPr lang="pl-PL" sz="1600" dirty="0">
              <a:solidFill>
                <a:srgbClr val="C00000"/>
              </a:solidFill>
            </a:endParaRPr>
          </a:p>
          <a:p>
            <a:endParaRPr lang="pl-PL" sz="2000" dirty="0">
              <a:solidFill>
                <a:srgbClr val="C00000"/>
              </a:solidFill>
            </a:endParaRPr>
          </a:p>
        </p:txBody>
      </p:sp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34082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Usuwanie plików</a:t>
            </a:r>
            <a:endParaRPr lang="pl-PL" sz="3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509120"/>
            <a:ext cx="63341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68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08"/>
          </a:xfrm>
        </p:spPr>
        <p:txBody>
          <a:bodyPr>
            <a:normAutofit/>
          </a:bodyPr>
          <a:lstStyle/>
          <a:p>
            <a:r>
              <a:rPr lang="pl-PL" sz="2000" dirty="0" smtClean="0">
                <a:solidFill>
                  <a:srgbClr val="C00000"/>
                </a:solidFill>
              </a:rPr>
              <a:t>copy [/Y | /-Y] źródło [cel] </a:t>
            </a:r>
            <a:r>
              <a:rPr lang="pl-PL" sz="2000" dirty="0" smtClean="0"/>
              <a:t>– kopiuje pliki podane jako źródło, w inne miejsce (cel). Przełączniki:</a:t>
            </a:r>
          </a:p>
          <a:p>
            <a:pPr lvl="2"/>
            <a:r>
              <a:rPr lang="pl-PL" sz="1400" dirty="0" smtClean="0">
                <a:solidFill>
                  <a:srgbClr val="C00000"/>
                </a:solidFill>
              </a:rPr>
              <a:t>/Y </a:t>
            </a:r>
            <a:r>
              <a:rPr lang="pl-PL" sz="1400" dirty="0" smtClean="0"/>
              <a:t>nie monituje o potwierdzenie zastąpienia istniejącego pliku docelowego</a:t>
            </a:r>
          </a:p>
          <a:p>
            <a:pPr lvl="2"/>
            <a:r>
              <a:rPr lang="pl-PL" sz="1400" dirty="0" smtClean="0">
                <a:solidFill>
                  <a:srgbClr val="C00000"/>
                </a:solidFill>
              </a:rPr>
              <a:t>/-Y </a:t>
            </a:r>
            <a:r>
              <a:rPr lang="pl-PL" sz="1400" dirty="0" smtClean="0"/>
              <a:t>monituje o potwierdzenie zastąpienia istniejącego pliku docelowego</a:t>
            </a:r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 smtClean="0"/>
          </a:p>
          <a:p>
            <a:r>
              <a:rPr lang="pl-PL" sz="2000" dirty="0">
                <a:solidFill>
                  <a:srgbClr val="C00000"/>
                </a:solidFill>
              </a:rPr>
              <a:t>m</a:t>
            </a:r>
            <a:r>
              <a:rPr lang="pl-PL" sz="2000" dirty="0" smtClean="0">
                <a:solidFill>
                  <a:srgbClr val="C00000"/>
                </a:solidFill>
              </a:rPr>
              <a:t>ove [/</a:t>
            </a:r>
            <a:r>
              <a:rPr lang="pl-PL" sz="2000" dirty="0">
                <a:solidFill>
                  <a:srgbClr val="C00000"/>
                </a:solidFill>
              </a:rPr>
              <a:t>Y | /-Y] </a:t>
            </a:r>
            <a:r>
              <a:rPr lang="pl-PL" sz="2000" dirty="0" smtClean="0">
                <a:solidFill>
                  <a:srgbClr val="C00000"/>
                </a:solidFill>
              </a:rPr>
              <a:t>[ścieżka]nazwa1 nazwa2 </a:t>
            </a:r>
            <a:r>
              <a:rPr lang="pl-PL" sz="2000" dirty="0"/>
              <a:t>- Przenosi i zmienia nazwy </a:t>
            </a:r>
            <a:r>
              <a:rPr lang="pl-PL" sz="2000" dirty="0" smtClean="0"/>
              <a:t>plików do katalogu, w którym aktualnie się znajdujemy.</a:t>
            </a:r>
          </a:p>
          <a:p>
            <a:endParaRPr lang="pl-PL" sz="1400" dirty="0" smtClean="0">
              <a:solidFill>
                <a:srgbClr val="C00000"/>
              </a:solidFill>
            </a:endParaRPr>
          </a:p>
          <a:p>
            <a:pPr marL="630936" lvl="2" indent="0">
              <a:buNone/>
            </a:pPr>
            <a:endParaRPr lang="pl-PL" sz="1400" dirty="0" smtClean="0"/>
          </a:p>
          <a:p>
            <a:pPr marL="630936" lvl="2" indent="0">
              <a:buNone/>
            </a:pPr>
            <a:endParaRPr lang="pl-PL" sz="1400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Kopiowanie i przenoszenie plików</a:t>
            </a:r>
            <a:endParaRPr lang="pl-PL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7" y="2060848"/>
            <a:ext cx="595312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4797152"/>
            <a:ext cx="6553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17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83264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/>
              <a:t>	Symbol  </a:t>
            </a:r>
            <a:r>
              <a:rPr lang="pl-PL" sz="2000" dirty="0"/>
              <a:t>wieloznaczny  to  wprowadzany  za  pomocą  klawiatury  </a:t>
            </a:r>
            <a:r>
              <a:rPr lang="pl-PL" sz="2000" dirty="0" smtClean="0"/>
              <a:t>znak, którego używa </a:t>
            </a:r>
            <a:r>
              <a:rPr lang="pl-PL" sz="2000" dirty="0"/>
              <a:t>się zamiast jednego lub większej liczby znaków podczas </a:t>
            </a:r>
            <a:r>
              <a:rPr lang="pl-PL" sz="2000" dirty="0" smtClean="0"/>
              <a:t>wyszukiwania w systemie. Przykłady i ich znaczenie:</a:t>
            </a:r>
          </a:p>
          <a:p>
            <a:pPr marL="109728" indent="0">
              <a:buNone/>
            </a:pPr>
            <a:r>
              <a:rPr lang="pl-PL" sz="2000" b="1" dirty="0" smtClean="0">
                <a:solidFill>
                  <a:srgbClr val="C00000"/>
                </a:solidFill>
              </a:rPr>
              <a:t>*</a:t>
            </a:r>
            <a:r>
              <a:rPr lang="pl-PL" sz="2000" dirty="0" smtClean="0"/>
              <a:t> lub</a:t>
            </a:r>
            <a:r>
              <a:rPr lang="pl-PL" sz="2000" b="1" dirty="0" smtClean="0">
                <a:solidFill>
                  <a:srgbClr val="C00000"/>
                </a:solidFill>
              </a:rPr>
              <a:t> </a:t>
            </a:r>
            <a:r>
              <a:rPr lang="pl-PL" sz="2000" b="1" dirty="0">
                <a:solidFill>
                  <a:srgbClr val="C00000"/>
                </a:solidFill>
              </a:rPr>
              <a:t>%</a:t>
            </a:r>
            <a:r>
              <a:rPr lang="pl-PL" sz="2000" b="1" dirty="0" smtClean="0">
                <a:solidFill>
                  <a:srgbClr val="C00000"/>
                </a:solidFill>
              </a:rPr>
              <a:t> </a:t>
            </a:r>
            <a:r>
              <a:rPr lang="pl-PL" sz="2000" dirty="0"/>
              <a:t>- Zero lub więcej </a:t>
            </a:r>
            <a:r>
              <a:rPr lang="pl-PL" sz="2000" dirty="0" smtClean="0"/>
              <a:t>znaków </a:t>
            </a:r>
          </a:p>
          <a:p>
            <a:pPr marL="109728" indent="0">
              <a:buNone/>
            </a:pPr>
            <a:r>
              <a:rPr lang="pl-PL" sz="2000" b="1" dirty="0" smtClean="0">
                <a:solidFill>
                  <a:srgbClr val="C00000"/>
                </a:solidFill>
              </a:rPr>
              <a:t>?</a:t>
            </a:r>
            <a:r>
              <a:rPr lang="pl-PL" sz="2000" dirty="0" smtClean="0">
                <a:solidFill>
                  <a:srgbClr val="C00000"/>
                </a:solidFill>
              </a:rPr>
              <a:t> </a:t>
            </a:r>
            <a:r>
              <a:rPr lang="pl-PL" sz="2000" dirty="0"/>
              <a:t>lub</a:t>
            </a:r>
            <a:r>
              <a:rPr lang="pl-PL" sz="2000" dirty="0">
                <a:solidFill>
                  <a:srgbClr val="C00000"/>
                </a:solidFill>
              </a:rPr>
              <a:t> </a:t>
            </a:r>
            <a:r>
              <a:rPr lang="pl-PL" sz="2000" b="1" dirty="0">
                <a:solidFill>
                  <a:srgbClr val="C00000"/>
                </a:solidFill>
              </a:rPr>
              <a:t>_</a:t>
            </a:r>
            <a:r>
              <a:rPr lang="pl-PL" sz="2000" dirty="0">
                <a:solidFill>
                  <a:srgbClr val="C00000"/>
                </a:solidFill>
              </a:rPr>
              <a:t> </a:t>
            </a:r>
            <a:r>
              <a:rPr lang="pl-PL" sz="2000" dirty="0"/>
              <a:t>(podkreślenie) – Dowolny pojedynczy </a:t>
            </a:r>
            <a:r>
              <a:rPr lang="pl-PL" sz="2000" dirty="0" smtClean="0"/>
              <a:t>znak</a:t>
            </a:r>
          </a:p>
          <a:p>
            <a:pPr marL="109728" indent="0">
              <a:buNone/>
            </a:pPr>
            <a:r>
              <a:rPr lang="pl-PL" sz="2000" b="1" dirty="0" smtClean="0">
                <a:solidFill>
                  <a:srgbClr val="C00000"/>
                </a:solidFill>
              </a:rPr>
              <a:t># </a:t>
            </a:r>
            <a:r>
              <a:rPr lang="pl-PL" sz="2000" dirty="0"/>
              <a:t>- Dowolna pojedyncza </a:t>
            </a:r>
            <a:r>
              <a:rPr lang="pl-PL" sz="2000" dirty="0" smtClean="0"/>
              <a:t>cyfra</a:t>
            </a:r>
          </a:p>
          <a:p>
            <a:pPr marL="109728" indent="0">
              <a:buNone/>
            </a:pPr>
            <a:endParaRPr lang="pl-PL" sz="2000" b="1" dirty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2000" b="1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2000" b="1" dirty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2000" b="1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1600" dirty="0" smtClean="0"/>
          </a:p>
          <a:p>
            <a:pPr marL="109728" indent="0">
              <a:buNone/>
            </a:pPr>
            <a:endParaRPr lang="pl-PL" sz="1600" dirty="0"/>
          </a:p>
          <a:p>
            <a:pPr marL="109728" indent="0">
              <a:buNone/>
            </a:pPr>
            <a:r>
              <a:rPr lang="pl-PL" sz="1600" dirty="0" smtClean="0"/>
              <a:t>Wyszukanie plików z rozsze-</a:t>
            </a:r>
          </a:p>
          <a:p>
            <a:pPr marL="109728" indent="0">
              <a:buNone/>
            </a:pPr>
            <a:r>
              <a:rPr lang="pl-PL" sz="1600" dirty="0"/>
              <a:t>r</a:t>
            </a:r>
            <a:r>
              <a:rPr lang="pl-PL" sz="1600" dirty="0" smtClean="0"/>
              <a:t>zeniem txt</a:t>
            </a:r>
            <a:endParaRPr lang="pl-PL" sz="1600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92696"/>
          </a:xfrm>
        </p:spPr>
        <p:txBody>
          <a:bodyPr>
            <a:normAutofit/>
          </a:bodyPr>
          <a:lstStyle/>
          <a:p>
            <a:pPr algn="ctr"/>
            <a:r>
              <a:rPr lang="pl-PL" sz="3000" dirty="0">
                <a:effectLst/>
              </a:rPr>
              <a:t>Symbole wieloznaczne</a:t>
            </a:r>
            <a:endParaRPr lang="pl-PL" sz="3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140968"/>
            <a:ext cx="54864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216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54461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/>
              <a:t>	Zmienne </a:t>
            </a:r>
            <a:r>
              <a:rPr lang="pl-PL" sz="2000" dirty="0"/>
              <a:t>środowiskowe </a:t>
            </a:r>
            <a:r>
              <a:rPr lang="pl-PL" sz="2000" dirty="0" smtClean="0"/>
              <a:t>służą </a:t>
            </a:r>
            <a:r>
              <a:rPr lang="pl-PL" sz="2000" dirty="0"/>
              <a:t>do przechowywania </a:t>
            </a:r>
            <a:r>
              <a:rPr lang="pl-PL" sz="2000" dirty="0" smtClean="0"/>
              <a:t>ważnych </a:t>
            </a:r>
            <a:r>
              <a:rPr lang="pl-PL" sz="2000" dirty="0"/>
              <a:t>dla systemu informacji, w tym </a:t>
            </a:r>
            <a:r>
              <a:rPr lang="pl-PL" sz="2000" dirty="0" smtClean="0"/>
              <a:t>ścieżek </a:t>
            </a:r>
            <a:r>
              <a:rPr lang="pl-PL" sz="2000" dirty="0"/>
              <a:t>dostępu do plików. Do wyświetlania, dodawania i usuwania zmiennych środowiskowych </a:t>
            </a:r>
            <a:r>
              <a:rPr lang="pl-PL" sz="2000" dirty="0" smtClean="0"/>
              <a:t>służy </a:t>
            </a:r>
            <a:r>
              <a:rPr lang="pl-PL" sz="2000" dirty="0"/>
              <a:t>polecenie </a:t>
            </a:r>
            <a:r>
              <a:rPr lang="pl-PL" sz="2000" dirty="0">
                <a:solidFill>
                  <a:srgbClr val="C00000"/>
                </a:solidFill>
              </a:rPr>
              <a:t>set</a:t>
            </a:r>
            <a:r>
              <a:rPr lang="pl-PL" sz="2000" dirty="0"/>
              <a:t>.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Specjalne </a:t>
            </a:r>
            <a:r>
              <a:rPr lang="pl-PL" sz="2000" dirty="0"/>
              <a:t>znaczenie ma zmienna środowiskowa PATH. </a:t>
            </a:r>
            <a:r>
              <a:rPr lang="pl-PL" sz="2000" dirty="0" smtClean="0"/>
              <a:t>Służy </a:t>
            </a:r>
            <a:r>
              <a:rPr lang="pl-PL" sz="2000" dirty="0"/>
              <a:t>ona do przechowywania </a:t>
            </a:r>
            <a:r>
              <a:rPr lang="pl-PL" sz="2000" dirty="0" smtClean="0"/>
              <a:t>ścieżek </a:t>
            </a:r>
            <a:r>
              <a:rPr lang="pl-PL" sz="2000" dirty="0"/>
              <a:t>dostępu do katalogów, do których </a:t>
            </a:r>
            <a:r>
              <a:rPr lang="pl-PL" sz="2000" dirty="0" smtClean="0"/>
              <a:t>użytkownik </a:t>
            </a:r>
            <a:r>
              <a:rPr lang="pl-PL" sz="2000" dirty="0"/>
              <a:t>ma bezpośredni dostęp z linii komend. Określa ona </a:t>
            </a:r>
            <a:r>
              <a:rPr lang="pl-PL" sz="2000" dirty="0" smtClean="0"/>
              <a:t>poza </a:t>
            </a:r>
            <a:r>
              <a:rPr lang="pl-PL" sz="2000" dirty="0"/>
              <a:t>aktualnie wybranym katalogiem - poszukiwany jest program odpowiadający komendzie wpisanej w linii komend. Do ustawiania tej zmiennej </a:t>
            </a:r>
            <a:r>
              <a:rPr lang="pl-PL" sz="2000" dirty="0" smtClean="0"/>
              <a:t>służy </a:t>
            </a:r>
            <a:r>
              <a:rPr lang="pl-PL" sz="2000" dirty="0"/>
              <a:t>komenda </a:t>
            </a:r>
            <a:r>
              <a:rPr lang="pl-PL" sz="2000" dirty="0">
                <a:solidFill>
                  <a:srgbClr val="C00000"/>
                </a:solidFill>
              </a:rPr>
              <a:t>path</a:t>
            </a:r>
            <a:r>
              <a:rPr lang="pl-PL" sz="2000" dirty="0"/>
              <a:t> z argumentem </a:t>
            </a:r>
            <a:r>
              <a:rPr lang="pl-PL" sz="2000" dirty="0" smtClean="0"/>
              <a:t>– listą katalogów</a:t>
            </a:r>
            <a:r>
              <a:rPr lang="pl-PL" sz="2000" dirty="0"/>
              <a:t>.</a:t>
            </a:r>
            <a:endParaRPr lang="pl-PL" sz="2000" dirty="0" smtClean="0"/>
          </a:p>
          <a:p>
            <a:pPr marL="109728" indent="0">
              <a:buNone/>
            </a:pP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Przykład stworzenia zmiennej środowiskowej </a:t>
            </a:r>
            <a:r>
              <a:rPr lang="pl-PL" sz="2000" dirty="0" smtClean="0">
                <a:solidFill>
                  <a:srgbClr val="C00000"/>
                </a:solidFill>
              </a:rPr>
              <a:t>set a=13</a:t>
            </a:r>
            <a:r>
              <a:rPr lang="pl-PL" sz="2000" dirty="0" smtClean="0"/>
              <a:t>, a odwołamy się do niej poprzez </a:t>
            </a:r>
            <a:r>
              <a:rPr lang="pl-PL" sz="2000" dirty="0">
                <a:solidFill>
                  <a:srgbClr val="C00000"/>
                </a:solidFill>
              </a:rPr>
              <a:t>echo </a:t>
            </a:r>
            <a:r>
              <a:rPr lang="pl-PL" sz="2000" dirty="0" smtClean="0">
                <a:solidFill>
                  <a:srgbClr val="C00000"/>
                </a:solidFill>
              </a:rPr>
              <a:t>%a%</a:t>
            </a:r>
            <a:r>
              <a:rPr lang="pl-PL" sz="2000" dirty="0" smtClean="0"/>
              <a:t>. </a:t>
            </a:r>
          </a:p>
          <a:p>
            <a:pPr marL="109728" indent="0">
              <a:buNone/>
            </a:pPr>
            <a:endParaRPr lang="pl-PL" sz="2000" dirty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92696"/>
          </a:xfrm>
        </p:spPr>
        <p:txBody>
          <a:bodyPr>
            <a:normAutofit/>
          </a:bodyPr>
          <a:lstStyle/>
          <a:p>
            <a:pPr algn="ctr"/>
            <a:r>
              <a:rPr lang="pl-PL" sz="3000" dirty="0">
                <a:effectLst/>
              </a:rPr>
              <a:t>Zmienne </a:t>
            </a:r>
            <a:r>
              <a:rPr lang="pl-PL" sz="3000" dirty="0" smtClean="0">
                <a:effectLst/>
              </a:rPr>
              <a:t>środowiskowe*</a:t>
            </a:r>
            <a:endParaRPr lang="pl-PL" sz="3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373216"/>
            <a:ext cx="37338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9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314595"/>
          </a:xfrm>
        </p:spPr>
        <p:txBody>
          <a:bodyPr>
            <a:normAutofit/>
          </a:bodyPr>
          <a:lstStyle/>
          <a:p>
            <a:r>
              <a:rPr lang="pl-PL" sz="2000" dirty="0" smtClean="0">
                <a:solidFill>
                  <a:srgbClr val="C00000"/>
                </a:solidFill>
              </a:rPr>
              <a:t>type [ścieżka]nazwa_pliku </a:t>
            </a:r>
            <a:r>
              <a:rPr lang="pl-PL" sz="2000" dirty="0" smtClean="0"/>
              <a:t>– instrukcja wyprowadza zawartość pliku na ekran.</a:t>
            </a:r>
          </a:p>
          <a:p>
            <a:endParaRPr lang="pl-PL" sz="2000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r>
              <a:rPr lang="pl-PL" sz="2000" dirty="0" smtClean="0"/>
              <a:t>	Standardowym </a:t>
            </a:r>
            <a:r>
              <a:rPr lang="pl-PL" sz="2000" dirty="0"/>
              <a:t>wejściem w linii komend jest klawiatura, a wyjściem monitor</a:t>
            </a:r>
            <a:r>
              <a:rPr lang="pl-PL" sz="2000" dirty="0" smtClean="0"/>
              <a:t>. </a:t>
            </a:r>
            <a:r>
              <a:rPr lang="pl-PL" sz="2000" dirty="0"/>
              <a:t>Istnieje </a:t>
            </a:r>
            <a:r>
              <a:rPr lang="pl-PL" sz="2000" dirty="0" smtClean="0"/>
              <a:t>możliwość </a:t>
            </a:r>
            <a:r>
              <a:rPr lang="pl-PL" sz="2000" dirty="0"/>
              <a:t>zmiany wejścia i wyjścia ze standardowych na inne</a:t>
            </a:r>
            <a:r>
              <a:rPr lang="pl-PL" sz="2000" dirty="0" smtClean="0"/>
              <a:t>. </a:t>
            </a:r>
            <a:r>
              <a:rPr lang="pl-PL" sz="2000" dirty="0"/>
              <a:t>Operatorem przekierowania wyjścia jest znak </a:t>
            </a:r>
            <a:r>
              <a:rPr lang="pl-PL" sz="2000" b="1" dirty="0">
                <a:solidFill>
                  <a:srgbClr val="C00000"/>
                </a:solidFill>
              </a:rPr>
              <a:t>&gt;</a:t>
            </a:r>
            <a:r>
              <a:rPr lang="pl-PL" sz="2000" dirty="0"/>
              <a:t> zaś operatorem przekierowania wejścia jest znak </a:t>
            </a:r>
            <a:r>
              <a:rPr lang="pl-PL" sz="2000" b="1" dirty="0" smtClean="0">
                <a:solidFill>
                  <a:srgbClr val="C00000"/>
                </a:solidFill>
              </a:rPr>
              <a:t>&lt;</a:t>
            </a:r>
            <a:r>
              <a:rPr lang="pl-PL" sz="2000" dirty="0" smtClean="0"/>
              <a:t>.</a:t>
            </a:r>
          </a:p>
          <a:p>
            <a:pPr marL="109728" indent="0">
              <a:buNone/>
            </a:pPr>
            <a:r>
              <a:rPr lang="pl-PL" sz="2000" dirty="0" smtClean="0"/>
              <a:t>	Aby </a:t>
            </a:r>
            <a:r>
              <a:rPr lang="pl-PL" sz="2000" dirty="0"/>
              <a:t>dopisywać do końca pliku </a:t>
            </a:r>
            <a:r>
              <a:rPr lang="pl-PL" sz="2000" dirty="0" smtClean="0"/>
              <a:t>należy posłużyć </a:t>
            </a:r>
            <a:r>
              <a:rPr lang="pl-PL" sz="2000" dirty="0"/>
              <a:t>się operatorem </a:t>
            </a:r>
            <a:r>
              <a:rPr lang="pl-PL" sz="2000" dirty="0">
                <a:solidFill>
                  <a:srgbClr val="C00000"/>
                </a:solidFill>
              </a:rPr>
              <a:t>&gt;&gt;</a:t>
            </a:r>
            <a:r>
              <a:rPr lang="pl-PL" sz="2000" dirty="0"/>
              <a:t>. Oprócz strumienia wyjściowego w trybie linii komend jest strumień błędów, na który są wysyłane informacje o błędach poleceń. </a:t>
            </a:r>
            <a:r>
              <a:rPr lang="pl-PL" sz="2000" dirty="0" smtClean="0"/>
              <a:t>Służą </a:t>
            </a:r>
            <a:r>
              <a:rPr lang="pl-PL" sz="2000" dirty="0"/>
              <a:t>do tego operatory </a:t>
            </a:r>
            <a:r>
              <a:rPr lang="pl-PL" sz="2000" dirty="0">
                <a:solidFill>
                  <a:srgbClr val="C00000"/>
                </a:solidFill>
              </a:rPr>
              <a:t>2&gt;</a:t>
            </a:r>
            <a:r>
              <a:rPr lang="pl-PL" sz="2000" dirty="0"/>
              <a:t>oraz </a:t>
            </a:r>
            <a:r>
              <a:rPr lang="pl-PL" sz="2000" dirty="0">
                <a:solidFill>
                  <a:srgbClr val="C00000"/>
                </a:solidFill>
              </a:rPr>
              <a:t>2</a:t>
            </a:r>
            <a:r>
              <a:rPr lang="pl-PL" sz="2000" dirty="0" smtClean="0">
                <a:solidFill>
                  <a:srgbClr val="C00000"/>
                </a:solidFill>
              </a:rPr>
              <a:t>&gt;&gt;</a:t>
            </a:r>
            <a:r>
              <a:rPr lang="pl-PL" sz="2000" dirty="0" smtClean="0"/>
              <a:t>.</a:t>
            </a:r>
          </a:p>
          <a:p>
            <a:pPr marL="109728" indent="0">
              <a:buNone/>
            </a:pPr>
            <a:endParaRPr lang="pl-PL" sz="2000" b="1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pl-PL" sz="2000" b="1" dirty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4606"/>
            <a:ext cx="8229600" cy="546978"/>
          </a:xfrm>
        </p:spPr>
        <p:txBody>
          <a:bodyPr>
            <a:noAutofit/>
          </a:bodyPr>
          <a:lstStyle/>
          <a:p>
            <a:pPr algn="ctr"/>
            <a:r>
              <a:rPr lang="pl-PL" sz="3000" dirty="0">
                <a:effectLst/>
              </a:rPr>
              <a:t>Wejście i wyjście</a:t>
            </a:r>
            <a:endParaRPr lang="pl-PL" sz="3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413943"/>
            <a:ext cx="3369196" cy="2303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19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32859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/>
              <a:t>	Komunikaty </a:t>
            </a:r>
            <a:r>
              <a:rPr lang="pl-PL" sz="2000" dirty="0"/>
              <a:t>wyświetlane przez </a:t>
            </a:r>
            <a:r>
              <a:rPr lang="pl-PL" sz="2000" dirty="0" smtClean="0"/>
              <a:t>każdą </a:t>
            </a:r>
            <a:r>
              <a:rPr lang="pl-PL" sz="2000" dirty="0"/>
              <a:t>komendę mogą stanowić dane wejściowe do innego polecenia, tak zwanego filtru. Przetwarzanie, w którym strumień danych wyjściowych z jednego programu (polecenia) stanowi jednocześnie strumień danych wejściowych do innego programu nazywa </a:t>
            </a:r>
            <a:r>
              <a:rPr lang="pl-PL" sz="2000" dirty="0" smtClean="0"/>
              <a:t>się </a:t>
            </a:r>
            <a:r>
              <a:rPr lang="pl-PL" sz="2000" dirty="0" smtClean="0">
                <a:solidFill>
                  <a:srgbClr val="C00000"/>
                </a:solidFill>
              </a:rPr>
              <a:t>przetwarzaniem </a:t>
            </a:r>
            <a:r>
              <a:rPr lang="pl-PL" sz="2000" dirty="0">
                <a:solidFill>
                  <a:srgbClr val="C00000"/>
                </a:solidFill>
              </a:rPr>
              <a:t>potokowym</a:t>
            </a:r>
            <a:r>
              <a:rPr lang="pl-PL" sz="2000" dirty="0"/>
              <a:t>. </a:t>
            </a:r>
            <a:endParaRPr lang="pl-PL" sz="2000" dirty="0" smtClean="0"/>
          </a:p>
          <a:p>
            <a:pPr marL="109728" indent="0">
              <a:buNone/>
            </a:pPr>
            <a:endParaRPr lang="pl-PL" sz="2000" dirty="0" smtClean="0"/>
          </a:p>
          <a:p>
            <a:r>
              <a:rPr lang="pl-PL" sz="2000" dirty="0">
                <a:solidFill>
                  <a:srgbClr val="C00000"/>
                </a:solidFill>
              </a:rPr>
              <a:t>polecenie | </a:t>
            </a:r>
            <a:r>
              <a:rPr lang="pl-PL" sz="2000" dirty="0" smtClean="0">
                <a:solidFill>
                  <a:srgbClr val="C00000"/>
                </a:solidFill>
              </a:rPr>
              <a:t>filtr </a:t>
            </a:r>
            <a:r>
              <a:rPr lang="pl-PL" sz="2000" dirty="0">
                <a:solidFill>
                  <a:srgbClr val="C00000"/>
                </a:solidFill>
              </a:rPr>
              <a:t>[opcje</a:t>
            </a:r>
            <a:r>
              <a:rPr lang="pl-PL" sz="2000" dirty="0" smtClean="0">
                <a:solidFill>
                  <a:srgbClr val="C00000"/>
                </a:solidFill>
              </a:rPr>
              <a:t>] </a:t>
            </a:r>
            <a:r>
              <a:rPr lang="pl-PL" sz="2000" dirty="0" smtClean="0"/>
              <a:t>–</a:t>
            </a:r>
            <a:r>
              <a:rPr lang="pl-PL" sz="2000" dirty="0" smtClean="0">
                <a:solidFill>
                  <a:srgbClr val="C00000"/>
                </a:solidFill>
              </a:rPr>
              <a:t> </a:t>
            </a:r>
            <a:r>
              <a:rPr lang="pl-PL" sz="2000" dirty="0" smtClean="0"/>
              <a:t>(np. filtr „more” zatrzymuje wyświetlanie </a:t>
            </a:r>
            <a:r>
              <a:rPr lang="pl-PL" sz="2000" dirty="0"/>
              <a:t>na wyjściu po zapełnieniu pełnego ekranu, i czeka na naciśnięcie dowolnego </a:t>
            </a:r>
            <a:r>
              <a:rPr lang="pl-PL" sz="2000" dirty="0" smtClean="0"/>
              <a:t>klawisza po czym zapełnia kolejny ekran).</a:t>
            </a:r>
          </a:p>
          <a:p>
            <a:pPr marL="109728" indent="0">
              <a:buNone/>
            </a:pPr>
            <a:r>
              <a:rPr lang="pl-PL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Dostępne filtry to:</a:t>
            </a:r>
            <a:r>
              <a:rPr lang="pl-PL" sz="2000" dirty="0" smtClean="0">
                <a:solidFill>
                  <a:srgbClr val="C00000"/>
                </a:solidFill>
              </a:rPr>
              <a:t> more</a:t>
            </a:r>
            <a:r>
              <a:rPr lang="pl-PL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pl-PL" sz="2000" dirty="0" smtClean="0">
                <a:solidFill>
                  <a:srgbClr val="C00000"/>
                </a:solidFill>
              </a:rPr>
              <a:t> sort</a:t>
            </a:r>
            <a:r>
              <a:rPr lang="pl-PL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pl-PL" sz="2000" dirty="0" smtClean="0">
                <a:solidFill>
                  <a:srgbClr val="C00000"/>
                </a:solidFill>
              </a:rPr>
              <a:t> find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l-PL" sz="2000" dirty="0" smtClean="0">
              <a:solidFill>
                <a:srgbClr val="C00000"/>
              </a:solidFill>
            </a:endParaRPr>
          </a:p>
          <a:p>
            <a:pPr marL="109728" indent="0">
              <a:buNone/>
            </a:pPr>
            <a:r>
              <a:rPr lang="pl-PL" sz="2000" dirty="0" smtClean="0"/>
              <a:t>Najważniejsze </a:t>
            </a:r>
            <a:r>
              <a:rPr lang="pl-PL" sz="2000" dirty="0"/>
              <a:t>opcje: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</a:t>
            </a:r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C </a:t>
            </a:r>
            <a:r>
              <a:rPr lang="pl-PL" sz="2000" dirty="0"/>
              <a:t>czyści ekran przed wyświetleniem strony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</a:t>
            </a:r>
            <a:r>
              <a:rPr lang="pl-PL" sz="2000" dirty="0" smtClean="0">
                <a:solidFill>
                  <a:srgbClr val="C00000"/>
                </a:solidFill>
              </a:rPr>
              <a:t>/</a:t>
            </a:r>
            <a:r>
              <a:rPr lang="pl-PL" sz="2000" dirty="0">
                <a:solidFill>
                  <a:srgbClr val="C00000"/>
                </a:solidFill>
              </a:rPr>
              <a:t>S </a:t>
            </a:r>
            <a:r>
              <a:rPr lang="pl-PL" sz="2000" dirty="0"/>
              <a:t>łączy sąsiednie puste wiersze w jeden wiersz </a:t>
            </a: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</a:t>
            </a:r>
            <a:r>
              <a:rPr lang="pl-PL" sz="2000" dirty="0" smtClean="0">
                <a:solidFill>
                  <a:srgbClr val="C00000"/>
                </a:solidFill>
              </a:rPr>
              <a:t>+</a:t>
            </a:r>
            <a:r>
              <a:rPr lang="pl-PL" sz="2000" dirty="0">
                <a:solidFill>
                  <a:srgbClr val="C00000"/>
                </a:solidFill>
              </a:rPr>
              <a:t>n</a:t>
            </a:r>
            <a:r>
              <a:rPr lang="pl-PL" sz="2000" dirty="0"/>
              <a:t> zaczyna wyświetlanie od wiersza n </a:t>
            </a:r>
            <a:endParaRPr lang="pl-PL" sz="2000" dirty="0">
              <a:solidFill>
                <a:srgbClr val="C00000"/>
              </a:solidFill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703"/>
            <a:ext cx="8229600" cy="690993"/>
          </a:xfrm>
        </p:spPr>
        <p:txBody>
          <a:bodyPr>
            <a:normAutofit/>
          </a:bodyPr>
          <a:lstStyle/>
          <a:p>
            <a:pPr algn="ctr"/>
            <a:r>
              <a:rPr lang="pl-PL" sz="3000" dirty="0">
                <a:effectLst/>
              </a:rPr>
              <a:t>Przetwarzanie potokowe 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346079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pl-PL" sz="2000" dirty="0" smtClean="0"/>
              <a:t>	Aby </a:t>
            </a:r>
            <a:r>
              <a:rPr lang="pl-PL" sz="2000" dirty="0"/>
              <a:t>kompilować programy napisane w języku C należy zainstalować </a:t>
            </a:r>
            <a:r>
              <a:rPr lang="pl-PL" sz="2000" dirty="0" smtClean="0">
                <a:solidFill>
                  <a:srgbClr val="C00000"/>
                </a:solidFill>
              </a:rPr>
              <a:t>GCC</a:t>
            </a:r>
            <a:r>
              <a:rPr lang="pl-PL" sz="2000" dirty="0" smtClean="0"/>
              <a:t> (GNU Compiler Collection). Można </a:t>
            </a:r>
            <a:r>
              <a:rPr lang="pl-PL" sz="2000" dirty="0"/>
              <a:t>do tego użyć </a:t>
            </a:r>
            <a:r>
              <a:rPr lang="pl-PL" sz="2000" dirty="0">
                <a:solidFill>
                  <a:srgbClr val="C00000"/>
                </a:solidFill>
              </a:rPr>
              <a:t>MinGW</a:t>
            </a:r>
            <a:r>
              <a:rPr lang="pl-PL" sz="2000" dirty="0"/>
              <a:t> (Minimalist GNU for Windows) – jest to port GCC, który dostarcza darmowe i otwarte środowisko oraz narzędzia pozwalające na kompilację plików wykonywalnych dla platformy </a:t>
            </a:r>
            <a:r>
              <a:rPr lang="pl-PL" sz="2000" dirty="0" smtClean="0"/>
              <a:t>Windows.</a:t>
            </a:r>
          </a:p>
          <a:p>
            <a:pPr marL="109728" indent="0">
              <a:buNone/>
            </a:pPr>
            <a:endParaRPr lang="pl-PL" sz="2000" dirty="0"/>
          </a:p>
          <a:p>
            <a:pPr marL="109728" indent="0">
              <a:buNone/>
            </a:pPr>
            <a:r>
              <a:rPr lang="pl-PL" sz="2000" dirty="0" smtClean="0"/>
              <a:t>Pełna instrukcja jak zainstalować GCC dla Windows znajduje się pod tym adresem:  tutaj adres</a:t>
            </a:r>
          </a:p>
          <a:p>
            <a:pPr marL="109728" indent="0">
              <a:buNone/>
            </a:pPr>
            <a:endParaRPr lang="pl-PL" sz="2000" dirty="0"/>
          </a:p>
          <a:p>
            <a:pPr marL="109728" indent="0">
              <a:buNone/>
            </a:pPr>
            <a:r>
              <a:rPr lang="pl-PL" sz="2000" dirty="0" smtClean="0"/>
              <a:t>	Aby </a:t>
            </a:r>
            <a:r>
              <a:rPr lang="pl-PL" sz="2000" dirty="0"/>
              <a:t>możliwe było używanie GCC w zwykłej konsoli Windows należy skopiować ścieżkę do folderu bin w miejscu instalacji MinGW oraz dodać ją do zmiennej środowiskowej </a:t>
            </a:r>
            <a:r>
              <a:rPr lang="pl-PL" sz="2000" dirty="0" smtClean="0"/>
              <a:t>PATH!</a:t>
            </a:r>
            <a:endParaRPr lang="pl-PL" sz="2000" dirty="0"/>
          </a:p>
          <a:p>
            <a:pPr marL="109728" indent="0">
              <a:buNone/>
            </a:pPr>
            <a:endParaRPr lang="pl-PL" sz="2000" dirty="0" smtClean="0"/>
          </a:p>
          <a:p>
            <a:pPr marL="109728" indent="0">
              <a:buNone/>
            </a:pPr>
            <a:endParaRPr lang="pl-PL" sz="2000" dirty="0"/>
          </a:p>
          <a:p>
            <a:pPr marL="109728" indent="0">
              <a:buNone/>
            </a:pPr>
            <a:endParaRPr lang="pl-PL" sz="2000" dirty="0" smtClean="0"/>
          </a:p>
          <a:p>
            <a:endParaRPr lang="pl-PL" sz="2000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908720"/>
          </a:xfrm>
        </p:spPr>
        <p:txBody>
          <a:bodyPr>
            <a:normAutofit fontScale="90000"/>
          </a:bodyPr>
          <a:lstStyle/>
          <a:p>
            <a:pPr algn="ctr"/>
            <a:r>
              <a:rPr lang="pl-PL" sz="3000" dirty="0" smtClean="0"/>
              <a:t>Kompilacja plików napisanych w języku C i ich uruchamianie w systemie Windows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323595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199097" y="44624"/>
            <a:ext cx="8697144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pl-PL" sz="3000" dirty="0" smtClean="0"/>
              <a:t>Tworzenie plików w terminalu z rozszerzeniem C </a:t>
            </a:r>
            <a:endParaRPr lang="pl-PL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91736"/>
            <a:ext cx="401955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ytuł 2"/>
          <p:cNvSpPr txBox="1">
            <a:spLocks/>
          </p:cNvSpPr>
          <p:nvPr/>
        </p:nvSpPr>
        <p:spPr>
          <a:xfrm>
            <a:off x="179512" y="1052736"/>
            <a:ext cx="4019550" cy="64807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endParaRPr lang="pl-PL" sz="2000" dirty="0"/>
          </a:p>
        </p:txBody>
      </p:sp>
      <p:sp>
        <p:nvSpPr>
          <p:cNvPr id="11" name="Symbol zastępczy zawartości 1"/>
          <p:cNvSpPr>
            <a:spLocks noGrp="1"/>
          </p:cNvSpPr>
          <p:nvPr>
            <p:ph idx="1"/>
          </p:nvPr>
        </p:nvSpPr>
        <p:spPr>
          <a:xfrm>
            <a:off x="179512" y="836713"/>
            <a:ext cx="4019550" cy="864096"/>
          </a:xfrm>
        </p:spPr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endParaRPr lang="pl-PL" sz="1600" dirty="0" smtClean="0"/>
          </a:p>
          <a:p>
            <a:pPr marL="109728" indent="0">
              <a:buNone/>
            </a:pPr>
            <a:endParaRPr lang="pl-PL" sz="1600" dirty="0"/>
          </a:p>
          <a:p>
            <a:pPr marL="109728" indent="0">
              <a:buNone/>
            </a:pPr>
            <a:r>
              <a:rPr lang="pl-PL" sz="1600" dirty="0" smtClean="0"/>
              <a:t>1. Tworzymy nowy plik o nazwie hello.c i wpisujemy jego zawartość.</a:t>
            </a:r>
            <a:endParaRPr lang="pl-PL" sz="1600" dirty="0"/>
          </a:p>
        </p:txBody>
      </p:sp>
      <p:sp>
        <p:nvSpPr>
          <p:cNvPr id="12" name="Symbol zastępczy zawartości 1"/>
          <p:cNvSpPr txBox="1">
            <a:spLocks/>
          </p:cNvSpPr>
          <p:nvPr/>
        </p:nvSpPr>
        <p:spPr>
          <a:xfrm>
            <a:off x="4380771" y="836712"/>
            <a:ext cx="4019550" cy="864096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Font typeface="Wingdings 3"/>
              <a:buNone/>
            </a:pPr>
            <a:endParaRPr lang="pl-PL" sz="1600" dirty="0" smtClean="0"/>
          </a:p>
          <a:p>
            <a:pPr marL="109728" indent="0">
              <a:buFont typeface="Wingdings 3"/>
              <a:buNone/>
            </a:pPr>
            <a:endParaRPr lang="pl-PL" sz="1600" dirty="0" smtClean="0"/>
          </a:p>
          <a:p>
            <a:pPr marL="109728" indent="0">
              <a:buFont typeface="Wingdings 3"/>
              <a:buNone/>
            </a:pPr>
            <a:r>
              <a:rPr lang="pl-PL" sz="1600" dirty="0" smtClean="0"/>
              <a:t>2. Kompilujemy i uruchamiamy program hello.c</a:t>
            </a:r>
            <a:endParaRPr lang="pl-PL" sz="1600" dirty="0"/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779" y="1700808"/>
            <a:ext cx="451170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5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389434" y="11663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Program liczący silnię w języku C uruchomiony przy pomocy linii komend</a:t>
            </a:r>
            <a:endParaRPr lang="pl-PL" sz="30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09993"/>
            <a:ext cx="7353300" cy="4543425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5694485"/>
            <a:ext cx="45815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6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Prosty program w języku C służący do obsługi tworzenia nowego katalogu.</a:t>
            </a:r>
            <a:endParaRPr lang="pl-PL" sz="30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052736"/>
            <a:ext cx="467677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3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231" y="1628800"/>
            <a:ext cx="6372225" cy="3343275"/>
          </a:xfrm>
          <a:prstGeom prst="rect">
            <a:avLst/>
          </a:prstGeom>
        </p:spPr>
      </p:pic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pl-PL" sz="3000" dirty="0" smtClean="0"/>
              <a:t>Program (z poprzedniego slajdu)</a:t>
            </a:r>
            <a:br>
              <a:rPr lang="pl-PL" sz="3000" dirty="0" smtClean="0"/>
            </a:br>
            <a:r>
              <a:rPr lang="pl-PL" sz="3000" dirty="0" smtClean="0"/>
              <a:t> wywołany za pomocą linii poleceń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289827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62074"/>
            <a:ext cx="4419600" cy="4895850"/>
          </a:xfrm>
          <a:prstGeom prst="rect">
            <a:avLst/>
          </a:prstGeom>
        </p:spPr>
      </p:pic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Program w C do usuwania katalogu</a:t>
            </a:r>
            <a:endParaRPr lang="pl-PL" sz="30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305796"/>
            <a:ext cx="5228889" cy="2304256"/>
          </a:xfrm>
          <a:prstGeom prst="rect">
            <a:avLst/>
          </a:prstGeom>
        </p:spPr>
      </p:pic>
      <p:sp>
        <p:nvSpPr>
          <p:cNvPr id="6" name="Prostokąt 5"/>
          <p:cNvSpPr/>
          <p:nvPr/>
        </p:nvSpPr>
        <p:spPr>
          <a:xfrm>
            <a:off x="4860032" y="1196752"/>
            <a:ext cx="3960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 smtClean="0"/>
              <a:t>Program, działa analogicznie do tego, który tworzy folder. Jedyna różnica to zmienione polecenie z </a:t>
            </a:r>
            <a:r>
              <a:rPr lang="pl-PL" dirty="0" err="1" smtClean="0"/>
              <a:t>mkdir</a:t>
            </a:r>
            <a:r>
              <a:rPr lang="pl-PL" dirty="0" smtClean="0"/>
              <a:t> na </a:t>
            </a:r>
            <a:r>
              <a:rPr lang="pl-PL" dirty="0" err="1" smtClean="0"/>
              <a:t>rmdir</a:t>
            </a:r>
            <a:r>
              <a:rPr lang="pl-PL" dirty="0" smtClean="0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79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69906"/>
          </a:xfrm>
        </p:spPr>
        <p:txBody>
          <a:bodyPr>
            <a:noAutofit/>
          </a:bodyPr>
          <a:lstStyle/>
          <a:p>
            <a:pPr algn="ctr"/>
            <a:r>
              <a:rPr lang="pl-PL" sz="3000" dirty="0" smtClean="0"/>
              <a:t>Tworzenie pliku za pomocą języka C</a:t>
            </a:r>
            <a:endParaRPr lang="pl-PL" sz="3000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4953000" cy="4562475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882" y="5229200"/>
            <a:ext cx="5229225" cy="1333500"/>
          </a:xfrm>
          <a:prstGeom prst="rect">
            <a:avLst/>
          </a:prstGeom>
        </p:spPr>
      </p:pic>
      <p:sp>
        <p:nvSpPr>
          <p:cNvPr id="6" name="Prostokąt 5"/>
          <p:cNvSpPr/>
          <p:nvPr/>
        </p:nvSpPr>
        <p:spPr>
          <a:xfrm>
            <a:off x="5220072" y="2204864"/>
            <a:ext cx="3672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 smtClean="0"/>
              <a:t>Program, który tworzy nowy plik. Musimy podać jego nazwę oraz zawartość.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612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9405"/>
            <a:ext cx="8229600" cy="673291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Program w C do usuwania plików </a:t>
            </a:r>
            <a:endParaRPr lang="pl-PL" sz="30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65" y="3140968"/>
            <a:ext cx="6562725" cy="981075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16" y="908720"/>
            <a:ext cx="3933825" cy="1857375"/>
          </a:xfrm>
          <a:prstGeom prst="rect">
            <a:avLst/>
          </a:prstGeom>
        </p:spPr>
      </p:pic>
      <p:sp>
        <p:nvSpPr>
          <p:cNvPr id="7" name="Prostokąt 6"/>
          <p:cNvSpPr/>
          <p:nvPr/>
        </p:nvSpPr>
        <p:spPr>
          <a:xfrm>
            <a:off x="1619672" y="4645260"/>
            <a:ext cx="63367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 smtClean="0"/>
              <a:t>Przykład programu z zastosowaniem funkcji </a:t>
            </a:r>
            <a:r>
              <a:rPr lang="pl-PL" dirty="0" err="1" smtClean="0"/>
              <a:t>remove</a:t>
            </a:r>
            <a:r>
              <a:rPr lang="pl-PL" dirty="0" smtClean="0"/>
              <a:t> usuwającej wskazany plik  w tym wypadku „textFile.txt”.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968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-18256"/>
            <a:ext cx="8229600" cy="782960"/>
          </a:xfrm>
        </p:spPr>
        <p:txBody>
          <a:bodyPr>
            <a:normAutofit/>
          </a:bodyPr>
          <a:lstStyle/>
          <a:p>
            <a:pPr algn="ctr"/>
            <a:r>
              <a:rPr lang="pl-PL" sz="3000" dirty="0" smtClean="0"/>
              <a:t>Kopiowanie plików przy pomocy C</a:t>
            </a:r>
            <a:endParaRPr lang="pl-PL" sz="3000" dirty="0"/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764704"/>
            <a:ext cx="4536504" cy="3676650"/>
          </a:xfrm>
          <a:prstGeom prst="rect">
            <a:avLst/>
          </a:prstGeom>
        </p:spPr>
      </p:pic>
      <p:pic>
        <p:nvPicPr>
          <p:cNvPr id="9" name="Obraz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76" y="764704"/>
            <a:ext cx="4487902" cy="3676650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4725144"/>
            <a:ext cx="52482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6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490066"/>
          </a:xfrm>
        </p:spPr>
        <p:txBody>
          <a:bodyPr>
            <a:normAutofit/>
          </a:bodyPr>
          <a:lstStyle/>
          <a:p>
            <a:pPr algn="ctr"/>
            <a:r>
              <a:rPr lang="pl-PL" sz="2400" dirty="0" smtClean="0"/>
              <a:t>Program C do tworzenia drzewa katalogów i plików</a:t>
            </a:r>
            <a:endParaRPr lang="pl-PL" sz="2400"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1700808"/>
            <a:ext cx="5400600" cy="1409700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11" y="548680"/>
            <a:ext cx="3021006" cy="2736304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12" y="3300563"/>
            <a:ext cx="3912692" cy="2360685"/>
          </a:xfrm>
          <a:prstGeom prst="rect">
            <a:avLst/>
          </a:prstGeom>
        </p:spPr>
      </p:pic>
      <p:sp>
        <p:nvSpPr>
          <p:cNvPr id="2" name="Prostokąt 1"/>
          <p:cNvSpPr/>
          <p:nvPr/>
        </p:nvSpPr>
        <p:spPr>
          <a:xfrm>
            <a:off x="4480569" y="465313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dirty="0" smtClean="0"/>
              <a:t>Prosty, parametryzowany program do tworzenia zagnieżdżonych katalogów. Wczytana liczba jest odpowiednia ilości utworzonych katalogów. Każdy katalog zawiera w sobie plik „file.txt”.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6673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>
            <a:normAutofit/>
          </a:bodyPr>
          <a:lstStyle/>
          <a:p>
            <a:r>
              <a:rPr lang="pl-PL" sz="2000" dirty="0" smtClean="0"/>
              <a:t>Pliki nagłówkowe to pliki źródłowe o rozszerzeniu „h”, które zawierają opis interfejsu modułu: deklaracje zmiennych, funkcji, klas i innych struktur danych. Używa się ich ze względu na to, by nie było potrzeby, przy każdej nawet najmniejszej zmianie w implementacji jednego modułu, rekompilowania wszystkich innych odwołujących się do niego.</a:t>
            </a:r>
          </a:p>
          <a:p>
            <a:pPr marL="109728" indent="0">
              <a:buNone/>
            </a:pPr>
            <a:r>
              <a:rPr lang="pl-PL" sz="2000" dirty="0" smtClean="0"/>
              <a:t> </a:t>
            </a:r>
          </a:p>
          <a:p>
            <a:r>
              <a:rPr lang="pl-PL" sz="2000" dirty="0" smtClean="0"/>
              <a:t>Przykłady plików nagłówkowych:</a:t>
            </a:r>
          </a:p>
          <a:p>
            <a:pPr lvl="2"/>
            <a:r>
              <a:rPr lang="pl-PL" sz="1400" dirty="0" err="1" smtClean="0"/>
              <a:t>stdio.h</a:t>
            </a:r>
            <a:r>
              <a:rPr lang="pl-PL" sz="1400" dirty="0" smtClean="0"/>
              <a:t> – biblioteka do operacji wejścia / wyjścia</a:t>
            </a:r>
          </a:p>
          <a:p>
            <a:pPr lvl="2"/>
            <a:r>
              <a:rPr lang="pl-PL" sz="1400" dirty="0" err="1" smtClean="0"/>
              <a:t>math.h</a:t>
            </a:r>
            <a:r>
              <a:rPr lang="pl-PL" sz="1400" dirty="0" smtClean="0"/>
              <a:t> – biblioteka do operacji matematycznych</a:t>
            </a:r>
          </a:p>
          <a:p>
            <a:pPr lvl="2"/>
            <a:r>
              <a:rPr lang="pl-PL" sz="1400" dirty="0" err="1" smtClean="0"/>
              <a:t>stdlib.h</a:t>
            </a:r>
            <a:r>
              <a:rPr lang="pl-PL" sz="1400" dirty="0" smtClean="0"/>
              <a:t> – biblioteka posiadająca wiele funkcji, np. sortowanie, alokacja pamięci</a:t>
            </a:r>
          </a:p>
          <a:p>
            <a:pPr lvl="2"/>
            <a:r>
              <a:rPr lang="pl-PL" sz="1400" dirty="0" err="1" smtClean="0"/>
              <a:t>windows.h</a:t>
            </a:r>
            <a:r>
              <a:rPr lang="pl-PL" sz="1400" dirty="0" smtClean="0"/>
              <a:t> – biblioteka zawiera deklaracje dla wszystkich funkcji w Windows API</a:t>
            </a:r>
            <a:endParaRPr lang="pl-PL" sz="1400" dirty="0"/>
          </a:p>
        </p:txBody>
      </p:sp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Autofit/>
          </a:bodyPr>
          <a:lstStyle/>
          <a:p>
            <a:pPr algn="ctr"/>
            <a:r>
              <a:rPr lang="pl-PL" sz="3000" dirty="0" smtClean="0"/>
              <a:t>Pliki nagłówkowe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46243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452596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pl-PL" sz="2000" dirty="0" smtClean="0">
                <a:solidFill>
                  <a:srgbClr val="C00000"/>
                </a:solidFill>
              </a:rPr>
              <a:t>	windows.h</a:t>
            </a:r>
            <a:r>
              <a:rPr lang="pl-PL" sz="2000" dirty="0" smtClean="0"/>
              <a:t> </a:t>
            </a:r>
            <a:r>
              <a:rPr lang="pl-PL" sz="2000" dirty="0"/>
              <a:t>to specyficzny dla systemu Windows plik nagłówkowy dla języków programowania C i C ++, który zawiera deklaracje wszystkich funkcji interfejsu API systemu Windows, wszystkie typowe makra używane przez programistów systemu Windows oraz wszystkie typy danych używane przez różne funkcje i podsystemy. Definiuje bardzo dużą liczbę funkcji specyficznych dla systemu Windows, które mogą być używane w C</a:t>
            </a:r>
            <a:r>
              <a:rPr lang="pl-PL" sz="2000" dirty="0" smtClean="0"/>
              <a:t>.</a:t>
            </a:r>
          </a:p>
          <a:p>
            <a:pPr marL="109728" indent="0">
              <a:buNone/>
            </a:pPr>
            <a:endParaRPr lang="pl-PL" sz="2000" dirty="0" smtClean="0"/>
          </a:p>
          <a:p>
            <a:pPr marL="109728" indent="0">
              <a:buNone/>
            </a:pPr>
            <a:r>
              <a:rPr lang="pl-PL" sz="2000" dirty="0" smtClean="0"/>
              <a:t>	Istnieje </a:t>
            </a:r>
            <a:r>
              <a:rPr lang="pl-PL" sz="2000" dirty="0"/>
              <a:t>wiele podrzędnych plików nagłówkowych, które są automatycznie dołączane do windows.h. Wiele z tych plików nie może być po prostu dołączonych samodzielnie (nie są one samodzielne) z powodu zależności.</a:t>
            </a:r>
          </a:p>
          <a:p>
            <a:pPr marL="109728" indent="0">
              <a:buNone/>
            </a:pPr>
            <a:endParaRPr lang="pl-PL" sz="2000" dirty="0"/>
          </a:p>
          <a:p>
            <a:pPr marL="109728" indent="0">
              <a:buNone/>
            </a:pPr>
            <a:endParaRPr lang="pl-PL" sz="2000" dirty="0"/>
          </a:p>
        </p:txBody>
      </p:sp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Autofit/>
          </a:bodyPr>
          <a:lstStyle/>
          <a:p>
            <a:pPr algn="ctr"/>
            <a:r>
              <a:rPr lang="pl-PL" sz="3200" dirty="0"/>
              <a:t>windows.h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59519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pl-PL" sz="2000" dirty="0" smtClean="0">
                <a:solidFill>
                  <a:srgbClr val="C00000"/>
                </a:solidFill>
              </a:rPr>
              <a:t>excpt.h </a:t>
            </a:r>
            <a:r>
              <a:rPr lang="pl-PL" sz="2000" dirty="0" smtClean="0"/>
              <a:t>- obsługa wyjątków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stdarg.h</a:t>
            </a:r>
            <a:r>
              <a:rPr lang="pl-PL" sz="2000" dirty="0" smtClean="0"/>
              <a:t> - funkcje o zmiennych argumentach (standardowy nagłówek C)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windef.h</a:t>
            </a:r>
            <a:r>
              <a:rPr lang="pl-PL" sz="2000" dirty="0" smtClean="0"/>
              <a:t> </a:t>
            </a:r>
            <a:r>
              <a:rPr lang="pl-PL" sz="2000" dirty="0"/>
              <a:t>- różne makra i typy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winnt.h</a:t>
            </a:r>
            <a:r>
              <a:rPr lang="pl-PL" sz="2000" dirty="0" smtClean="0"/>
              <a:t> </a:t>
            </a:r>
            <a:r>
              <a:rPr lang="pl-PL" sz="2000" dirty="0"/>
              <a:t>- różne makra i typy (dla Windows NT)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basetsd.h</a:t>
            </a:r>
            <a:r>
              <a:rPr lang="pl-PL" sz="2000" dirty="0" smtClean="0"/>
              <a:t> </a:t>
            </a:r>
            <a:r>
              <a:rPr lang="pl-PL" sz="2000" dirty="0"/>
              <a:t>- różne typy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guiddef.h</a:t>
            </a:r>
            <a:r>
              <a:rPr lang="pl-PL" sz="2000" dirty="0" smtClean="0"/>
              <a:t> </a:t>
            </a:r>
            <a:r>
              <a:rPr lang="pl-PL" sz="2000" dirty="0"/>
              <a:t>- typ identyfikatora GUID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ctype.h </a:t>
            </a:r>
            <a:r>
              <a:rPr lang="pl-PL" sz="2000" dirty="0"/>
              <a:t>- klasyfikacja znaków (standardowy nagłówek C)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string.h</a:t>
            </a:r>
            <a:r>
              <a:rPr lang="pl-PL" sz="2000" dirty="0" smtClean="0"/>
              <a:t> </a:t>
            </a:r>
            <a:r>
              <a:rPr lang="pl-PL" sz="2000" dirty="0"/>
              <a:t>- stringi i bufory (standardowy nagłówek C)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winbase.h</a:t>
            </a:r>
            <a:r>
              <a:rPr lang="pl-PL" sz="2000" dirty="0" smtClean="0"/>
              <a:t> </a:t>
            </a:r>
            <a:r>
              <a:rPr lang="pl-PL" sz="2000" dirty="0"/>
              <a:t>- kernel32.dll: usługi jądra; advapi32.dll: usługi jądra (np. funkcja CreateProcessAsUser), kontrola dostępu (np. funkcja AdjustTokenGroups).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winerror.h</a:t>
            </a:r>
            <a:r>
              <a:rPr lang="pl-PL" sz="2000" dirty="0" smtClean="0"/>
              <a:t> </a:t>
            </a:r>
            <a:r>
              <a:rPr lang="pl-PL" sz="2000" dirty="0"/>
              <a:t>- kody błędów systemu Windows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wingdi.h</a:t>
            </a:r>
            <a:r>
              <a:rPr lang="pl-PL" sz="2000" dirty="0" smtClean="0"/>
              <a:t> </a:t>
            </a:r>
            <a:r>
              <a:rPr lang="pl-PL" sz="2000" dirty="0"/>
              <a:t>- GDI (interfejs urządzenia graficznego)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winuser.h</a:t>
            </a:r>
            <a:r>
              <a:rPr lang="pl-PL" sz="2000" dirty="0" smtClean="0"/>
              <a:t> </a:t>
            </a:r>
            <a:r>
              <a:rPr lang="pl-PL" sz="2000" dirty="0"/>
              <a:t>- user32.dll: usługi użytkownika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winnls.h</a:t>
            </a:r>
            <a:r>
              <a:rPr lang="pl-PL" sz="2000" dirty="0" smtClean="0"/>
              <a:t> </a:t>
            </a:r>
            <a:r>
              <a:rPr lang="pl-PL" sz="2000" dirty="0"/>
              <a:t>- NLS (obsługa języków ojczystych)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wincon.h</a:t>
            </a:r>
            <a:r>
              <a:rPr lang="pl-PL" sz="2000" dirty="0" smtClean="0"/>
              <a:t> - usługi konsoli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winver.h</a:t>
            </a:r>
            <a:r>
              <a:rPr lang="pl-PL" sz="2000" dirty="0" smtClean="0"/>
              <a:t> </a:t>
            </a:r>
            <a:r>
              <a:rPr lang="pl-PL" sz="2000" dirty="0"/>
              <a:t>- informacje o wersji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winreg.h</a:t>
            </a:r>
            <a:r>
              <a:rPr lang="pl-PL" sz="2000" dirty="0" smtClean="0"/>
              <a:t> </a:t>
            </a:r>
            <a:r>
              <a:rPr lang="pl-PL" sz="2000" dirty="0"/>
              <a:t>- rejestr systemu Windows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winnetwk.h</a:t>
            </a:r>
            <a:r>
              <a:rPr lang="pl-PL" sz="2000" dirty="0" smtClean="0"/>
              <a:t> </a:t>
            </a:r>
            <a:r>
              <a:rPr lang="pl-PL" sz="2000" dirty="0"/>
              <a:t>- WNet (sieć Windows)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winsvc.h</a:t>
            </a:r>
            <a:r>
              <a:rPr lang="pl-PL" sz="2000" dirty="0" smtClean="0"/>
              <a:t> </a:t>
            </a:r>
            <a:r>
              <a:rPr lang="pl-PL" sz="2000" dirty="0"/>
              <a:t>- usługi Windows i SCM (Service Control Manager)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imm.h </a:t>
            </a:r>
            <a:r>
              <a:rPr lang="pl-PL" sz="2000" dirty="0"/>
              <a:t>- IME (edytor metody wprowadzania)</a:t>
            </a:r>
          </a:p>
        </p:txBody>
      </p:sp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Autofit/>
          </a:bodyPr>
          <a:lstStyle/>
          <a:p>
            <a:pPr algn="ctr"/>
            <a:r>
              <a:rPr lang="pl-PL" sz="3000" dirty="0" smtClean="0"/>
              <a:t>Pliki, które może zawierać windows.h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156975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112568"/>
          </a:xfrm>
        </p:spPr>
        <p:txBody>
          <a:bodyPr>
            <a:normAutofit fontScale="62500" lnSpcReduction="20000"/>
          </a:bodyPr>
          <a:lstStyle/>
          <a:p>
            <a:endParaRPr lang="pl-PL" dirty="0" smtClean="0"/>
          </a:p>
          <a:p>
            <a:pPr marL="109728" indent="0">
              <a:buNone/>
            </a:pPr>
            <a:r>
              <a:rPr lang="pl-PL" dirty="0" smtClean="0"/>
              <a:t>Dodatkowe:</a:t>
            </a:r>
          </a:p>
          <a:p>
            <a:pPr marL="109728" indent="0">
              <a:buNone/>
            </a:pPr>
            <a:endParaRPr lang="pl-PL" dirty="0"/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cderr.h</a:t>
            </a:r>
            <a:r>
              <a:rPr lang="pl-PL" dirty="0" smtClean="0"/>
              <a:t> </a:t>
            </a:r>
            <a:r>
              <a:rPr lang="pl-PL" dirty="0"/>
              <a:t>- kody błędów funkcji CommDlgExtendedError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commdlg.h</a:t>
            </a:r>
            <a:r>
              <a:rPr lang="pl-PL" dirty="0" smtClean="0"/>
              <a:t> </a:t>
            </a:r>
            <a:r>
              <a:rPr lang="pl-PL" dirty="0"/>
              <a:t>- wspólne okna dialogowe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dde.h</a:t>
            </a:r>
            <a:r>
              <a:rPr lang="pl-PL" dirty="0" smtClean="0"/>
              <a:t> </a:t>
            </a:r>
            <a:r>
              <a:rPr lang="pl-PL" dirty="0"/>
              <a:t>- DDE (dynamiczna wymiana danych)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ddeml.h</a:t>
            </a:r>
            <a:r>
              <a:rPr lang="pl-PL" dirty="0" smtClean="0"/>
              <a:t> </a:t>
            </a:r>
            <a:r>
              <a:rPr lang="pl-PL" dirty="0"/>
              <a:t>- Biblioteka zarządzania DDE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dlgs.h</a:t>
            </a:r>
            <a:r>
              <a:rPr lang="pl-PL" dirty="0" smtClean="0"/>
              <a:t> </a:t>
            </a:r>
            <a:r>
              <a:rPr lang="pl-PL" dirty="0"/>
              <a:t>- różne stałe dla wspólnych okien dialogowych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lzexpand.h</a:t>
            </a:r>
            <a:r>
              <a:rPr lang="pl-PL" dirty="0" smtClean="0"/>
              <a:t> </a:t>
            </a:r>
            <a:r>
              <a:rPr lang="pl-PL" dirty="0"/>
              <a:t>- kompresja / dekompresja LZ (Lempel-Ziv)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mmsystem.h</a:t>
            </a:r>
            <a:r>
              <a:rPr lang="pl-PL" dirty="0" smtClean="0"/>
              <a:t> </a:t>
            </a:r>
            <a:r>
              <a:rPr lang="pl-PL" dirty="0"/>
              <a:t>- Windows Multimedia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nb30.h</a:t>
            </a:r>
            <a:r>
              <a:rPr lang="pl-PL" dirty="0" smtClean="0"/>
              <a:t> </a:t>
            </a:r>
            <a:r>
              <a:rPr lang="pl-PL" dirty="0"/>
              <a:t>- NetBIOS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rpc.h</a:t>
            </a:r>
            <a:r>
              <a:rPr lang="pl-PL" dirty="0" smtClean="0"/>
              <a:t> </a:t>
            </a:r>
            <a:r>
              <a:rPr lang="pl-PL" dirty="0"/>
              <a:t>- RPC (zdalne wywołanie procedury)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shellapi.h</a:t>
            </a:r>
            <a:r>
              <a:rPr lang="pl-PL" dirty="0" smtClean="0"/>
              <a:t> </a:t>
            </a:r>
            <a:r>
              <a:rPr lang="pl-PL" dirty="0"/>
              <a:t>- Windows Shell API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wincrypt.h</a:t>
            </a:r>
            <a:r>
              <a:rPr lang="pl-PL" dirty="0" smtClean="0"/>
              <a:t> </a:t>
            </a:r>
            <a:r>
              <a:rPr lang="pl-PL" dirty="0"/>
              <a:t>- Cryptographic API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winperf.h</a:t>
            </a:r>
            <a:r>
              <a:rPr lang="pl-PL" dirty="0" smtClean="0"/>
              <a:t> </a:t>
            </a:r>
            <a:r>
              <a:rPr lang="pl-PL" dirty="0"/>
              <a:t>- Monitorowanie wydajności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winresrc.h</a:t>
            </a:r>
            <a:r>
              <a:rPr lang="pl-PL" dirty="0" smtClean="0"/>
              <a:t> </a:t>
            </a:r>
            <a:r>
              <a:rPr lang="pl-PL" dirty="0"/>
              <a:t>- używany w zasobach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winsock.h</a:t>
            </a:r>
            <a:r>
              <a:rPr lang="pl-PL" dirty="0" smtClean="0"/>
              <a:t> </a:t>
            </a:r>
            <a:r>
              <a:rPr lang="pl-PL" dirty="0"/>
              <a:t>- Winsock (Windows Sockets), wersja 1.1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winspool.h</a:t>
            </a:r>
            <a:r>
              <a:rPr lang="pl-PL" dirty="0" smtClean="0"/>
              <a:t> </a:t>
            </a:r>
            <a:r>
              <a:rPr lang="pl-PL" dirty="0"/>
              <a:t>- Bufor wydruku</a:t>
            </a:r>
          </a:p>
          <a:p>
            <a:r>
              <a:rPr lang="pl-PL" dirty="0"/>
              <a:t> </a:t>
            </a:r>
            <a:r>
              <a:rPr lang="pl-PL" dirty="0" smtClean="0">
                <a:solidFill>
                  <a:srgbClr val="C00000"/>
                </a:solidFill>
              </a:rPr>
              <a:t>winbgim.h</a:t>
            </a:r>
            <a:r>
              <a:rPr lang="pl-PL" dirty="0" smtClean="0"/>
              <a:t> </a:t>
            </a:r>
            <a:r>
              <a:rPr lang="pl-PL" dirty="0"/>
              <a:t>- standardowa biblioteka graficzna</a:t>
            </a:r>
          </a:p>
        </p:txBody>
      </p:sp>
    </p:spTree>
    <p:extLst>
      <p:ext uri="{BB962C8B-B14F-4D97-AF65-F5344CB8AC3E}">
        <p14:creationId xmlns:p14="http://schemas.microsoft.com/office/powerpoint/2010/main" val="165338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2"/>
          <p:cNvSpPr>
            <a:spLocks noGrp="1"/>
          </p:cNvSpPr>
          <p:nvPr>
            <p:ph type="title"/>
          </p:nvPr>
        </p:nvSpPr>
        <p:spPr>
          <a:xfrm>
            <a:off x="435057" y="260648"/>
            <a:ext cx="8229600" cy="620688"/>
          </a:xfrm>
        </p:spPr>
        <p:txBody>
          <a:bodyPr>
            <a:noAutofit/>
          </a:bodyPr>
          <a:lstStyle/>
          <a:p>
            <a:pPr algn="ctr"/>
            <a:r>
              <a:rPr lang="pl-PL" sz="3200" dirty="0" smtClean="0"/>
              <a:t>Programy napisane w języku C z wykorzystaniem biblioteki &lt;</a:t>
            </a:r>
            <a:r>
              <a:rPr lang="pl-PL" sz="3200" dirty="0" err="1" smtClean="0"/>
              <a:t>windows.h</a:t>
            </a:r>
            <a:r>
              <a:rPr lang="pl-PL" sz="3200" dirty="0" smtClean="0"/>
              <a:t>&gt;</a:t>
            </a:r>
            <a:endParaRPr lang="pl-PL" sz="3000" dirty="0"/>
          </a:p>
        </p:txBody>
      </p:sp>
      <p:pic>
        <p:nvPicPr>
          <p:cNvPr id="1026" name="Picture 2" descr="https://media.discordapp.net/attachments/689800346004095003/781566363563065424/unknow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57" y="1340768"/>
            <a:ext cx="7086600" cy="44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94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edia.discordapp.net/attachments/689800346004095003/781566439261339679/unknow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6632"/>
            <a:ext cx="767715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rostokąt 3"/>
          <p:cNvSpPr/>
          <p:nvPr/>
        </p:nvSpPr>
        <p:spPr>
          <a:xfrm>
            <a:off x="790896" y="4509120"/>
            <a:ext cx="81015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 smtClean="0"/>
              <a:t>	Na załączonych zrzutach ekranu zostały zaprezentowane użycie podstawowych funkcji z biblioteki &lt;</a:t>
            </a:r>
            <a:r>
              <a:rPr lang="pl-PL" dirty="0" err="1" smtClean="0"/>
              <a:t>windows.h</a:t>
            </a:r>
            <a:r>
              <a:rPr lang="pl-PL" dirty="0" smtClean="0"/>
              <a:t>&gt; w programach napisanych w języku C. Jak widać użycie tej biblioteki znacząco skraca kod i oferuje ten sam efekt końcowy w dużo mniejszym nakładzie pracy.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5791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170579"/>
          </a:xfrm>
        </p:spPr>
        <p:txBody>
          <a:bodyPr/>
          <a:lstStyle/>
          <a:p>
            <a:r>
              <a:rPr lang="pl-PL" sz="2000" dirty="0" smtClean="0">
                <a:solidFill>
                  <a:srgbClr val="C00000"/>
                </a:solidFill>
              </a:rPr>
              <a:t>cls </a:t>
            </a:r>
            <a:r>
              <a:rPr lang="pl-PL" sz="2000" dirty="0" smtClean="0"/>
              <a:t>– czyści ekran konsoli</a:t>
            </a:r>
            <a:endParaRPr lang="pl-PL" sz="2000" dirty="0" smtClean="0">
              <a:solidFill>
                <a:srgbClr val="C00000"/>
              </a:solidFill>
            </a:endParaRPr>
          </a:p>
          <a:p>
            <a:r>
              <a:rPr lang="pl-PL" sz="2000" dirty="0" smtClean="0">
                <a:solidFill>
                  <a:srgbClr val="C00000"/>
                </a:solidFill>
              </a:rPr>
              <a:t>help </a:t>
            </a:r>
            <a:r>
              <a:rPr lang="pl-PL" sz="2000" dirty="0" smtClean="0"/>
              <a:t>– wyświetla listę komend wraz z opisem</a:t>
            </a:r>
            <a:endParaRPr lang="pl-PL" sz="2000" dirty="0" smtClean="0">
              <a:solidFill>
                <a:srgbClr val="C00000"/>
              </a:solidFill>
            </a:endParaRPr>
          </a:p>
          <a:p>
            <a:r>
              <a:rPr lang="pl-PL" sz="2000" dirty="0" smtClean="0">
                <a:solidFill>
                  <a:srgbClr val="C00000"/>
                </a:solidFill>
              </a:rPr>
              <a:t>tree</a:t>
            </a:r>
            <a:r>
              <a:rPr lang="pl-PL" sz="2000" dirty="0" smtClean="0"/>
              <a:t> – wyświetla strukturę katalogów dysku lub ścieżki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format litera_dysku </a:t>
            </a:r>
            <a:r>
              <a:rPr lang="pl-PL" sz="2000" dirty="0" smtClean="0"/>
              <a:t>– formatuje określony dysk/partycję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replace</a:t>
            </a:r>
            <a:r>
              <a:rPr lang="pl-PL" sz="2000" dirty="0" smtClean="0"/>
              <a:t> – zamienia pliki</a:t>
            </a:r>
          </a:p>
          <a:p>
            <a:r>
              <a:rPr lang="pl-PL" sz="2000" dirty="0" smtClean="0">
                <a:solidFill>
                  <a:srgbClr val="C00000"/>
                </a:solidFill>
              </a:rPr>
              <a:t>recover</a:t>
            </a:r>
            <a:r>
              <a:rPr lang="pl-PL" sz="2000" dirty="0" smtClean="0"/>
              <a:t> – odzyskuje możliwe do oczytania informacje z uszkodzonego dysku</a:t>
            </a:r>
          </a:p>
          <a:p>
            <a:r>
              <a:rPr lang="pl-PL" sz="2000" dirty="0" err="1">
                <a:solidFill>
                  <a:srgbClr val="C00000"/>
                </a:solidFill>
              </a:rPr>
              <a:t>o</a:t>
            </a:r>
            <a:r>
              <a:rPr lang="pl-PL" sz="2000" dirty="0" err="1" smtClean="0">
                <a:solidFill>
                  <a:srgbClr val="C00000"/>
                </a:solidFill>
              </a:rPr>
              <a:t>penfiles</a:t>
            </a:r>
            <a:r>
              <a:rPr lang="pl-PL" sz="2000" dirty="0" smtClean="0"/>
              <a:t> – wyświetla pliki otwarte przez użytkowników zdalnych</a:t>
            </a:r>
          </a:p>
          <a:p>
            <a:r>
              <a:rPr lang="pl-PL" sz="2000" dirty="0" err="1" smtClean="0">
                <a:solidFill>
                  <a:srgbClr val="C00000"/>
                </a:solidFill>
              </a:rPr>
              <a:t>print</a:t>
            </a:r>
            <a:r>
              <a:rPr lang="pl-PL" sz="2000" dirty="0" smtClean="0"/>
              <a:t> – drukuje plik tekstowy</a:t>
            </a:r>
          </a:p>
          <a:p>
            <a:r>
              <a:rPr lang="pl-PL" sz="2000" dirty="0" err="1" smtClean="0">
                <a:solidFill>
                  <a:srgbClr val="C00000"/>
                </a:solidFill>
              </a:rPr>
              <a:t>pushd</a:t>
            </a:r>
            <a:r>
              <a:rPr lang="pl-PL" sz="2000" dirty="0" smtClean="0"/>
              <a:t> – zapisuje bieżący katalog, a następnie zamienia go</a:t>
            </a:r>
          </a:p>
          <a:p>
            <a:r>
              <a:rPr lang="pl-PL" sz="2000" dirty="0">
                <a:solidFill>
                  <a:srgbClr val="C00000"/>
                </a:solidFill>
              </a:rPr>
              <a:t>c</a:t>
            </a:r>
            <a:r>
              <a:rPr lang="pl-PL" sz="2000" dirty="0" smtClean="0">
                <a:solidFill>
                  <a:srgbClr val="C00000"/>
                </a:solidFill>
              </a:rPr>
              <a:t>omp</a:t>
            </a:r>
            <a:r>
              <a:rPr lang="pl-PL" sz="2000" dirty="0" smtClean="0"/>
              <a:t> – porównuje zawartość dwóch plików</a:t>
            </a:r>
          </a:p>
          <a:p>
            <a:r>
              <a:rPr lang="pl-PL" sz="2000" dirty="0" err="1">
                <a:solidFill>
                  <a:srgbClr val="C00000"/>
                </a:solidFill>
              </a:rPr>
              <a:t>c</a:t>
            </a:r>
            <a:r>
              <a:rPr lang="pl-PL" sz="2000" dirty="0" err="1" smtClean="0">
                <a:solidFill>
                  <a:srgbClr val="C00000"/>
                </a:solidFill>
              </a:rPr>
              <a:t>md</a:t>
            </a:r>
            <a:r>
              <a:rPr lang="pl-PL" sz="2000" dirty="0" smtClean="0"/>
              <a:t> – uruchamia nowe wystąpienie interpretera poleceń</a:t>
            </a:r>
          </a:p>
          <a:p>
            <a:r>
              <a:rPr lang="pl-PL" sz="2000" dirty="0" err="1">
                <a:solidFill>
                  <a:srgbClr val="C00000"/>
                </a:solidFill>
              </a:rPr>
              <a:t>c</a:t>
            </a:r>
            <a:r>
              <a:rPr lang="pl-PL" sz="2000" dirty="0" err="1" smtClean="0">
                <a:solidFill>
                  <a:srgbClr val="C00000"/>
                </a:solidFill>
              </a:rPr>
              <a:t>olor</a:t>
            </a:r>
            <a:r>
              <a:rPr lang="pl-PL" sz="2000" dirty="0" smtClean="0"/>
              <a:t> – ustawia domyślny kolor tła i pierwszego planu konsoli</a:t>
            </a:r>
          </a:p>
          <a:p>
            <a:endParaRPr lang="pl-PL" dirty="0" smtClean="0"/>
          </a:p>
          <a:p>
            <a:endParaRPr lang="pl-PL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67544" y="25979"/>
            <a:ext cx="8229600" cy="738725"/>
          </a:xfrm>
        </p:spPr>
        <p:txBody>
          <a:bodyPr>
            <a:normAutofit fontScale="90000"/>
          </a:bodyPr>
          <a:lstStyle/>
          <a:p>
            <a:pPr algn="ctr"/>
            <a:r>
              <a:rPr lang="pl-PL" sz="3000" dirty="0" smtClean="0"/>
              <a:t>Inne przydatne komendy w systemie Windows</a:t>
            </a:r>
            <a:endParaRPr lang="pl-PL" sz="3000" dirty="0"/>
          </a:p>
        </p:txBody>
      </p:sp>
    </p:spTree>
    <p:extLst>
      <p:ext uri="{BB962C8B-B14F-4D97-AF65-F5344CB8AC3E}">
        <p14:creationId xmlns:p14="http://schemas.microsoft.com/office/powerpoint/2010/main" val="192292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7504" y="1481328"/>
            <a:ext cx="8856984" cy="4525963"/>
          </a:xfrm>
        </p:spPr>
        <p:txBody>
          <a:bodyPr/>
          <a:lstStyle/>
          <a:p>
            <a:r>
              <a:rPr lang="pl-PL" sz="1400" dirty="0">
                <a:hlinkClick r:id="rId2"/>
              </a:rPr>
              <a:t>https://www.ee.pw.edu.pl/~tomzdun/zajecia/soisk_l/1.%20DOS%20-%</a:t>
            </a:r>
            <a:r>
              <a:rPr lang="pl-PL" sz="1400" dirty="0" smtClean="0">
                <a:hlinkClick r:id="rId2"/>
              </a:rPr>
              <a:t>20Linia%20komend.pdf</a:t>
            </a:r>
            <a:endParaRPr lang="pl-PL" sz="1400" dirty="0" smtClean="0"/>
          </a:p>
          <a:p>
            <a:r>
              <a:rPr lang="pl-PL" sz="1400" dirty="0">
                <a:hlinkClick r:id="rId3"/>
              </a:rPr>
              <a:t>https://</a:t>
            </a:r>
            <a:r>
              <a:rPr lang="pl-PL" sz="1400" dirty="0" smtClean="0">
                <a:hlinkClick r:id="rId3"/>
              </a:rPr>
              <a:t>support.microsoft.com/pl-pl/office/korzystanie-z-symboli-wieloznacznych-w-por%C3%B3wnaniach-ci%C4%85g%C3%B3w-znak%C3%B3w-c472b6df-0d3e-4ffc-a21c-bb5721cc460a</a:t>
            </a:r>
            <a:endParaRPr lang="pl-PL" sz="1400" dirty="0" smtClean="0"/>
          </a:p>
          <a:p>
            <a:r>
              <a:rPr lang="pl-PL" sz="1400" dirty="0">
                <a:hlinkClick r:id="rId4"/>
              </a:rPr>
              <a:t>https://</a:t>
            </a:r>
            <a:r>
              <a:rPr lang="pl-PL" sz="1400" dirty="0" smtClean="0">
                <a:hlinkClick r:id="rId4"/>
              </a:rPr>
              <a:t>www.computerhope.com/jargon/c/copycon.htm</a:t>
            </a:r>
            <a:endParaRPr lang="pl-PL" sz="1400" dirty="0" smtClean="0"/>
          </a:p>
          <a:p>
            <a:r>
              <a:rPr lang="pl-PL" sz="1400" dirty="0">
                <a:hlinkClick r:id="rId5"/>
              </a:rPr>
              <a:t>https://users.pja.edu.pl/~</a:t>
            </a:r>
            <a:r>
              <a:rPr lang="pl-PL" sz="1400" dirty="0" smtClean="0">
                <a:hlinkClick r:id="rId5"/>
              </a:rPr>
              <a:t>jms/qnx/help/watcom/clibref/headers.html#HeaderFilesInUsrIncludeSys</a:t>
            </a:r>
            <a:endParaRPr lang="pl-PL" sz="1400" dirty="0" smtClean="0"/>
          </a:p>
          <a:p>
            <a:r>
              <a:rPr lang="pl-PL" sz="1400" dirty="0">
                <a:hlinkClick r:id="rId6"/>
              </a:rPr>
              <a:t>https://</a:t>
            </a:r>
            <a:r>
              <a:rPr lang="pl-PL" sz="1400" dirty="0" smtClean="0">
                <a:hlinkClick r:id="rId6"/>
              </a:rPr>
              <a:t>en.wikipedia.org/wiki/Windows.h</a:t>
            </a:r>
            <a:endParaRPr lang="pl-PL" sz="1400" dirty="0" smtClean="0"/>
          </a:p>
          <a:p>
            <a:endParaRPr lang="pl-PL" sz="1400" dirty="0" smtClean="0"/>
          </a:p>
          <a:p>
            <a:endParaRPr lang="pl-PL" sz="1400" dirty="0" smtClean="0"/>
          </a:p>
          <a:p>
            <a:endParaRPr lang="pl-PL" sz="1400" dirty="0" smtClean="0"/>
          </a:p>
          <a:p>
            <a:endParaRPr lang="pl-PL" sz="1400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dirty="0" smtClean="0"/>
              <a:t>Bibliografia</a:t>
            </a:r>
            <a:endParaRPr lang="pl-PL" sz="3600" b="1" dirty="0"/>
          </a:p>
        </p:txBody>
      </p:sp>
    </p:spTree>
    <p:extLst>
      <p:ext uri="{BB962C8B-B14F-4D97-AF65-F5344CB8AC3E}">
        <p14:creationId xmlns:p14="http://schemas.microsoft.com/office/powerpoint/2010/main" val="215814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">
  <a:themeElements>
    <a:clrScheme name="Hol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Hol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Hol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818</TotalTime>
  <Words>1387</Words>
  <Application>Microsoft Office PowerPoint</Application>
  <PresentationFormat>Pokaz na ekranie (4:3)</PresentationFormat>
  <Paragraphs>243</Paragraphs>
  <Slides>33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34" baseType="lpstr">
      <vt:lpstr>Hol</vt:lpstr>
      <vt:lpstr>Obsługa plików i katalogów w języku C dla systemu Windows.</vt:lpstr>
      <vt:lpstr>Poruszanie się po drzewie katalogu</vt:lpstr>
      <vt:lpstr>Prezentacja programu PowerPoint</vt:lpstr>
      <vt:lpstr>Obsługa katalogów</vt:lpstr>
      <vt:lpstr>Kopiowanie i przenoszenie katalogów</vt:lpstr>
      <vt:lpstr>Wyświetlanie listy plików i katalogów</vt:lpstr>
      <vt:lpstr>Najważniejsze opcje polecenia dir</vt:lpstr>
      <vt:lpstr>Zmiana nazwy plików i katalogów</vt:lpstr>
      <vt:lpstr>Tworzenie plików</vt:lpstr>
      <vt:lpstr>Usuwanie plików</vt:lpstr>
      <vt:lpstr>Kopiowanie i przenoszenie plików</vt:lpstr>
      <vt:lpstr>Symbole wieloznaczne</vt:lpstr>
      <vt:lpstr>Zmienne środowiskowe*</vt:lpstr>
      <vt:lpstr>Wejście i wyjście</vt:lpstr>
      <vt:lpstr>Przetwarzanie potokowe </vt:lpstr>
      <vt:lpstr>Kompilacja plików napisanych w języku C i ich uruchamianie w systemie Windows</vt:lpstr>
      <vt:lpstr>Tworzenie plików w terminalu z rozszerzeniem C </vt:lpstr>
      <vt:lpstr>Program liczący silnię w języku C uruchomiony przy pomocy linii komend</vt:lpstr>
      <vt:lpstr>Prosty program w języku C służący do obsługi tworzenia nowego katalogu.</vt:lpstr>
      <vt:lpstr>Program (z poprzedniego slajdu)  wywołany za pomocą linii poleceń</vt:lpstr>
      <vt:lpstr>Program w C do usuwania katalogu</vt:lpstr>
      <vt:lpstr>Tworzenie pliku za pomocą języka C</vt:lpstr>
      <vt:lpstr>Program w C do usuwania plików </vt:lpstr>
      <vt:lpstr>Kopiowanie plików przy pomocy C</vt:lpstr>
      <vt:lpstr>Program C do tworzenia drzewa katalogów i plików</vt:lpstr>
      <vt:lpstr>Pliki nagłówkowe</vt:lpstr>
      <vt:lpstr>windows.h</vt:lpstr>
      <vt:lpstr>Pliki, które może zawierać windows.h</vt:lpstr>
      <vt:lpstr>Prezentacja programu PowerPoint</vt:lpstr>
      <vt:lpstr>Programy napisane w języku C z wykorzystaniem biblioteki &lt;windows.h&gt;</vt:lpstr>
      <vt:lpstr>Prezentacja programu PowerPoint</vt:lpstr>
      <vt:lpstr>Inne przydatne komendy w systemie Windows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Obsługa plików i katalogów w języku C dla systemu Windows.</dc:title>
  <dc:creator>Kamil</dc:creator>
  <cp:lastModifiedBy>Kamil</cp:lastModifiedBy>
  <cp:revision>95</cp:revision>
  <dcterms:created xsi:type="dcterms:W3CDTF">2020-11-12T07:38:41Z</dcterms:created>
  <dcterms:modified xsi:type="dcterms:W3CDTF">2020-11-26T17:12:37Z</dcterms:modified>
</cp:coreProperties>
</file>